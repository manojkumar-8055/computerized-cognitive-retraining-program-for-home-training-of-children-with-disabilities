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69" r:id="rId3"/>
    <p:sldId id="257" r:id="rId4"/>
    <p:sldId id="274" r:id="rId5"/>
    <p:sldId id="273" r:id="rId6"/>
    <p:sldId id="275" r:id="rId7"/>
    <p:sldId id="276" r:id="rId8"/>
    <p:sldId id="272" r:id="rId9"/>
    <p:sldId id="278" r:id="rId10"/>
    <p:sldId id="279" r:id="rId11"/>
    <p:sldId id="281" r:id="rId12"/>
    <p:sldId id="277" r:id="rId13"/>
    <p:sldId id="268" r:id="rId14"/>
    <p:sldId id="265" r:id="rId15"/>
    <p:sldId id="280"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77222077-3D36-429B-B120-6903601E0C8F}">
          <p14:sldIdLst>
            <p14:sldId id="256"/>
            <p14:sldId id="269"/>
            <p14:sldId id="257"/>
            <p14:sldId id="274"/>
            <p14:sldId id="273"/>
            <p14:sldId id="275"/>
            <p14:sldId id="276"/>
            <p14:sldId id="272"/>
            <p14:sldId id="278"/>
            <p14:sldId id="279"/>
            <p14:sldId id="281"/>
            <p14:sldId id="277"/>
          </p14:sldIdLst>
        </p14:section>
        <p14:section name="Untitled Section" id="{716FF416-E9E5-438C-9486-29E1BC7B6705}">
          <p14:sldIdLst>
            <p14:sldId id="268"/>
            <p14:sldId id="265"/>
            <p14:sldId id="280"/>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0094C8D4-6661-E2E2-50D8-1BDCA4B3C2B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8DB2A856-26B8-B5D8-1531-759962FEDB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58CEC305-9814-3F7B-FE66-C90C4BF0CE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3598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2402210B-8709-3936-DE30-C32D3E92622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B397D196-1951-F2DD-12BB-19D2AA4370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C36134E-50B0-E195-12B3-E8F1F1308B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1962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F8DFF38-2161-1B3B-B45B-556DDA72088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ADF8269E-2F6A-BE34-BADD-24550105CB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6834D41-0B09-0E16-3FAC-6B12D37232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6154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6C46E28-44C4-BDE3-B823-760CE30E788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504E185-158C-DE6A-7E40-526FC61985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A941ADB-7234-82E1-4557-AE0A3986A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9403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2B0AAD8-BC72-7EFF-00BE-06320D6EE8E1}"/>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5C796DD-85BD-AEF8-6306-749091430C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8422EE5-D2D9-723D-C9FC-7437F8F17C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323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BD34D6A-1D6D-B245-E088-5F909DBBA6AA}"/>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9187203-CDC4-6B2A-D09C-6EAD2D4A01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94EAFDD-A9E2-6749-EFE9-2078E12D1C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3608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608FFF3-8FCC-01A3-5521-65A8A41B2D8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D81258BC-53B8-FEA5-EE07-D42194CC8F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DD91AF1-7978-7A4E-5A36-4547CD894C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5479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449EDB5-DDA6-9E84-F14C-2E622D8BE755}"/>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54AD875C-CFE7-B59E-8DA5-9794A86506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48F285F7-D1E4-8F9C-EB30-B8B9138449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2799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anojKumar-8055/Computerized-Cognitive-Retraining%20Program-for-Home-Training-of-Children-with-Disabilities.git"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Computerized Cognitive Retraining Program for Home Training of Children with Disabilities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IN" sz="1800" dirty="0">
                <a:latin typeface="Cambria" panose="02040503050406030204" pitchFamily="18" charset="0"/>
                <a:ea typeface="Cambria" panose="02040503050406030204" pitchFamily="18" charset="0"/>
              </a:rPr>
              <a:t>CAI 11</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2000" b="1"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chemeClr val="accent2"/>
                </a:solidFill>
                <a:latin typeface="Cambria" panose="02040503050406030204" pitchFamily="18" charset="0"/>
                <a:ea typeface="Cambria" panose="02040503050406030204" pitchFamily="18" charset="0"/>
                <a:cs typeface="Verdana"/>
                <a:sym typeface="Verdana"/>
              </a:rPr>
              <a:t>Mr. J John Bennet  </a:t>
            </a:r>
            <a:endParaRPr lang="en-US" sz="2000" dirty="0">
              <a:solidFill>
                <a:schemeClr val="accent2"/>
              </a:solidFill>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Assistant Professor</a:t>
            </a:r>
            <a:endParaRPr lang="en-US"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sz="2000"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sz="2000" b="1"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p>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sym typeface="Verdana"/>
              </a:rPr>
              <a:t>                   Review 5</a:t>
            </a:r>
            <a:r>
              <a:rPr lang="en-US" sz="1800" dirty="0">
                <a:solidFill>
                  <a:schemeClr val="bg1"/>
                </a:solidFill>
                <a:latin typeface="Norwester" panose="020B0604020202020204" charset="0"/>
              </a:rPr>
              <a:t>ROJECT EXPO</a:t>
            </a:r>
          </a:p>
          <a:p>
            <a:pPr marL="0" marR="0" lvl="0" indent="0" algn="ctr" rtl="0">
              <a:spcBef>
                <a:spcPts val="310"/>
              </a:spcBef>
              <a:spcAft>
                <a:spcPts val="0"/>
              </a:spcAft>
              <a:buClr>
                <a:srgbClr val="17365D"/>
              </a:buClr>
              <a:buSzPct val="100000"/>
              <a:buFont typeface="Arial"/>
              <a:buNone/>
            </a:pP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B.TECH</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ZAFAR ALI KHAN 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Ms. SUMA N G</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rgbClr val="FF0000"/>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CA958B46-AA99-9707-2B39-02ECACE93472}"/>
              </a:ext>
            </a:extLst>
          </p:cNvPr>
          <p:cNvGraphicFramePr>
            <a:graphicFrameLocks noGrp="1"/>
          </p:cNvGraphicFramePr>
          <p:nvPr>
            <p:extLst>
              <p:ext uri="{D42A27DB-BD31-4B8C-83A1-F6EECF244321}">
                <p14:modId xmlns:p14="http://schemas.microsoft.com/office/powerpoint/2010/main" val="2468062864"/>
              </p:ext>
            </p:extLst>
          </p:nvPr>
        </p:nvGraphicFramePr>
        <p:xfrm>
          <a:off x="304848" y="2500984"/>
          <a:ext cx="5667221" cy="1856032"/>
        </p:xfrm>
        <a:graphic>
          <a:graphicData uri="http://schemas.openxmlformats.org/drawingml/2006/table">
            <a:tbl>
              <a:tblPr firstRow="1" bandRow="1"/>
              <a:tblGrid>
                <a:gridCol w="2830174">
                  <a:extLst>
                    <a:ext uri="{9D8B030D-6E8A-4147-A177-3AD203B41FA5}">
                      <a16:colId xmlns:a16="http://schemas.microsoft.com/office/drawing/2014/main" val="3756681226"/>
                    </a:ext>
                  </a:extLst>
                </a:gridCol>
                <a:gridCol w="2837047">
                  <a:extLst>
                    <a:ext uri="{9D8B030D-6E8A-4147-A177-3AD203B41FA5}">
                      <a16:colId xmlns:a16="http://schemas.microsoft.com/office/drawing/2014/main" val="2951954899"/>
                    </a:ext>
                  </a:extLst>
                </a:gridCol>
              </a:tblGrid>
              <a:tr h="464008">
                <a:tc>
                  <a:txBody>
                    <a:bodyPr/>
                    <a:lstStyle/>
                    <a:p>
                      <a:pPr algn="ctr"/>
                      <a:r>
                        <a:rPr lang="en-IN" sz="1800" b="1" dirty="0">
                          <a:solidFill>
                            <a:schemeClr val="bg2"/>
                          </a:solidFill>
                          <a:latin typeface="Cambria" panose="02040503050406030204" pitchFamily="18" charset="0"/>
                          <a:ea typeface="Cambria" panose="02040503050406030204" pitchFamily="18" charset="0"/>
                        </a:rPr>
                        <a:t>Roll Number</a:t>
                      </a:r>
                    </a:p>
                  </a:txBody>
                  <a:tcPr/>
                </a:tc>
                <a:tc>
                  <a:txBody>
                    <a:bodyPr/>
                    <a:lstStyle/>
                    <a:p>
                      <a:pPr algn="ctr"/>
                      <a:r>
                        <a:rPr lang="en-IN" sz="1800" b="1" dirty="0">
                          <a:solidFill>
                            <a:schemeClr val="bg2"/>
                          </a:solidFill>
                          <a:latin typeface="Cambria" panose="02040503050406030204" pitchFamily="18" charset="0"/>
                          <a:ea typeface="Cambria" panose="02040503050406030204" pitchFamily="18" charset="0"/>
                        </a:rPr>
                        <a:t>Student Name</a:t>
                      </a:r>
                    </a:p>
                  </a:txBody>
                  <a:tcPr/>
                </a:tc>
                <a:extLst>
                  <a:ext uri="{0D108BD9-81ED-4DB2-BD59-A6C34878D82A}">
                    <a16:rowId xmlns:a16="http://schemas.microsoft.com/office/drawing/2014/main" val="3973898317"/>
                  </a:ext>
                </a:extLst>
              </a:tr>
              <a:tr h="4640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dirty="0">
                          <a:solidFill>
                            <a:schemeClr val="tx1"/>
                          </a:solidFill>
                          <a:latin typeface="Cambria" panose="02040503050406030204" pitchFamily="18" charset="0"/>
                          <a:ea typeface="Cambria" panose="02040503050406030204" pitchFamily="18" charset="0"/>
                        </a:rPr>
                        <a:t>  </a:t>
                      </a:r>
                      <a:r>
                        <a:rPr lang="en-IN" sz="1800" b="1" dirty="0">
                          <a:solidFill>
                            <a:schemeClr val="bg2"/>
                          </a:solidFill>
                          <a:latin typeface="Cambria" panose="02040503050406030204" pitchFamily="18" charset="0"/>
                          <a:ea typeface="Cambria" panose="02040503050406030204" pitchFamily="18" charset="0"/>
                        </a:rPr>
                        <a:t>20221CAI0085</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Cambria" panose="02040503050406030204" pitchFamily="18" charset="0"/>
                          <a:ea typeface="Cambria" panose="02040503050406030204" pitchFamily="18" charset="0"/>
                        </a:rPr>
                        <a:t>   </a:t>
                      </a:r>
                      <a:r>
                        <a:rPr lang="en-US" sz="1800" b="1" u="none" strike="noStrike" cap="none" dirty="0">
                          <a:solidFill>
                            <a:schemeClr val="bg2"/>
                          </a:solidFill>
                          <a:latin typeface="Cambria" panose="02040503050406030204" pitchFamily="18" charset="0"/>
                          <a:ea typeface="Cambria" panose="02040503050406030204" pitchFamily="18" charset="0"/>
                        </a:rPr>
                        <a:t>Manoj Kumar K R</a:t>
                      </a:r>
                    </a:p>
                  </a:txBody>
                  <a:tcPr/>
                </a:tc>
                <a:extLst>
                  <a:ext uri="{0D108BD9-81ED-4DB2-BD59-A6C34878D82A}">
                    <a16:rowId xmlns:a16="http://schemas.microsoft.com/office/drawing/2014/main" val="1719642993"/>
                  </a:ext>
                </a:extLst>
              </a:tr>
              <a:tr h="464008">
                <a:tc>
                  <a:txBody>
                    <a:bodyPr/>
                    <a:lstStyle/>
                    <a:p>
                      <a:r>
                        <a:rPr lang="en-US" sz="2000" b="0" dirty="0">
                          <a:solidFill>
                            <a:schemeClr val="tx1"/>
                          </a:solidFill>
                          <a:latin typeface="Cambria" panose="02040503050406030204" pitchFamily="18" charset="0"/>
                          <a:ea typeface="Cambria" panose="02040503050406030204" pitchFamily="18" charset="0"/>
                        </a:rPr>
                        <a:t>  </a:t>
                      </a:r>
                      <a:r>
                        <a:rPr lang="en-IN" sz="2000" b="1" dirty="0">
                          <a:solidFill>
                            <a:schemeClr val="bg2"/>
                          </a:solidFill>
                          <a:latin typeface="Cambria" panose="02040503050406030204" pitchFamily="18" charset="0"/>
                          <a:ea typeface="Cambria" panose="02040503050406030204" pitchFamily="18" charset="0"/>
                        </a:rPr>
                        <a:t>20221CAI0070</a:t>
                      </a:r>
                      <a:endParaRPr lang="en-IN" sz="2000" dirty="0">
                        <a:latin typeface="Cambria" panose="02040503050406030204" pitchFamily="18" charset="0"/>
                        <a:ea typeface="Cambria" panose="02040503050406030204" pitchFamily="18" charset="0"/>
                      </a:endParaRPr>
                    </a:p>
                  </a:txBody>
                  <a:tcPr/>
                </a:tc>
                <a:tc>
                  <a:txBody>
                    <a:bodyPr/>
                    <a:lstStyle/>
                    <a:p>
                      <a:pPr algn="ctr"/>
                      <a:r>
                        <a:rPr lang="en-US" dirty="0">
                          <a:latin typeface="Cambria" panose="02040503050406030204" pitchFamily="18" charset="0"/>
                          <a:ea typeface="Cambria" panose="02040503050406030204" pitchFamily="18" charset="0"/>
                        </a:rPr>
                        <a:t>    </a:t>
                      </a:r>
                      <a:r>
                        <a:rPr lang="en-US" sz="1800" b="1" u="none" strike="noStrike" cap="none" dirty="0">
                          <a:solidFill>
                            <a:schemeClr val="bg2"/>
                          </a:solidFill>
                        </a:rPr>
                        <a:t>Gnaneshwar</a:t>
                      </a:r>
                      <a:r>
                        <a:rPr lang="en-IN" sz="1800" b="1" u="none" strike="noStrike" cap="none" dirty="0">
                          <a:solidFill>
                            <a:schemeClr val="bg2"/>
                          </a:solidFill>
                        </a:rPr>
                        <a:t> D Y</a:t>
                      </a:r>
                      <a:endParaRPr lang="en-IN" sz="1800" b="1" dirty="0">
                        <a:solidFill>
                          <a:schemeClr val="bg2"/>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988801007"/>
                  </a:ext>
                </a:extLst>
              </a:tr>
              <a:tr h="464008">
                <a:tc>
                  <a:txBody>
                    <a:bodyPr/>
                    <a:lstStyle/>
                    <a:p>
                      <a:r>
                        <a:rPr lang="en-US" sz="1800" b="0" dirty="0">
                          <a:solidFill>
                            <a:schemeClr val="tx1"/>
                          </a:solidFill>
                          <a:latin typeface="Cambria" panose="02040503050406030204" pitchFamily="18" charset="0"/>
                          <a:ea typeface="Cambria" panose="02040503050406030204" pitchFamily="18" charset="0"/>
                        </a:rPr>
                        <a:t>  </a:t>
                      </a:r>
                      <a:r>
                        <a:rPr lang="en-IN" sz="2000" b="1" dirty="0">
                          <a:solidFill>
                            <a:schemeClr val="bg2"/>
                          </a:solidFill>
                          <a:latin typeface="Cambria" panose="02040503050406030204" pitchFamily="18" charset="0"/>
                          <a:ea typeface="Cambria" panose="02040503050406030204" pitchFamily="18" charset="0"/>
                        </a:rPr>
                        <a:t>20221CAI0063</a:t>
                      </a:r>
                      <a:endParaRPr lang="en-IN" sz="2000" dirty="0">
                        <a:latin typeface="Cambria" panose="02040503050406030204" pitchFamily="18" charset="0"/>
                        <a:ea typeface="Cambria" panose="02040503050406030204" pitchFamily="18" charset="0"/>
                      </a:endParaRPr>
                    </a:p>
                  </a:txBody>
                  <a:tcPr/>
                </a:tc>
                <a:tc>
                  <a:txBody>
                    <a:bodyPr/>
                    <a:lstStyle/>
                    <a:p>
                      <a:pPr algn="ctr"/>
                      <a:r>
                        <a:rPr lang="en-US" sz="1800" b="1" u="none" strike="noStrike" cap="none" dirty="0">
                          <a:solidFill>
                            <a:schemeClr val="bg2"/>
                          </a:solidFill>
                          <a:latin typeface="Cambria" panose="02040503050406030204" pitchFamily="18" charset="0"/>
                          <a:ea typeface="Cambria" panose="02040503050406030204" pitchFamily="18" charset="0"/>
                        </a:rPr>
                        <a:t>Vikranth Reddy Y</a:t>
                      </a:r>
                      <a:endParaRPr lang="en-IN" sz="1800" b="1" dirty="0">
                        <a:solidFill>
                          <a:schemeClr val="bg2"/>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9504949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PSCS_19</a:t>
            </a:r>
            <a:endParaRPr sz="20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35935" y="779997"/>
            <a:ext cx="10668000" cy="1938532"/>
          </a:xfrm>
          <a:prstGeom prst="rect">
            <a:avLst/>
          </a:prstGeom>
          <a:noFill/>
          <a:ln>
            <a:noFill/>
          </a:ln>
        </p:spPr>
        <p:txBody>
          <a:bodyPr spcFirstLastPara="1" wrap="square" lIns="91425" tIns="45700" rIns="91425" bIns="45700" anchor="t" anchorCtr="0">
            <a:normAutofit fontScale="25000" lnSpcReduction="20000"/>
          </a:bodyPr>
          <a:lstStyle/>
          <a:p>
            <a:pPr marL="342900" indent="-190500" algn="just">
              <a:lnSpc>
                <a:spcPct val="150000"/>
              </a:lnSpc>
              <a:spcBef>
                <a:spcPts val="0"/>
              </a:spcBef>
              <a:buNone/>
            </a:pPr>
            <a:r>
              <a:rPr lang="en-US" sz="9600" b="1" dirty="0">
                <a:solidFill>
                  <a:srgbClr val="C00000"/>
                </a:solidFill>
                <a:latin typeface="Cambria" panose="02040503050406030204" pitchFamily="18" charset="0"/>
                <a:ea typeface="Cambria" panose="02040503050406030204" pitchFamily="18" charset="0"/>
              </a:rPr>
              <a:t>Organization: </a:t>
            </a:r>
            <a:r>
              <a:rPr lang="en-US" sz="9600" b="1" dirty="0">
                <a:latin typeface="Cambria" panose="02040503050406030204" pitchFamily="18" charset="0"/>
                <a:ea typeface="Cambria" panose="02040503050406030204" pitchFamily="18" charset="0"/>
              </a:rPr>
              <a:t>Ministry of Health</a:t>
            </a:r>
            <a:endParaRPr lang="en-US" sz="9600" b="1" dirty="0">
              <a:solidFill>
                <a:schemeClr val="tx1"/>
              </a:solidFill>
              <a:latin typeface="Cambria" panose="02040503050406030204" pitchFamily="18" charset="0"/>
              <a:ea typeface="Cambria" panose="02040503050406030204" pitchFamily="18" charset="0"/>
            </a:endParaRPr>
          </a:p>
          <a:p>
            <a:pPr marL="342900" lvl="0" indent="-190500" algn="just">
              <a:lnSpc>
                <a:spcPct val="150000"/>
              </a:lnSpc>
              <a:spcBef>
                <a:spcPts val="0"/>
              </a:spcBef>
              <a:buNone/>
            </a:pPr>
            <a:r>
              <a:rPr lang="en-US" sz="9600" b="1" dirty="0">
                <a:solidFill>
                  <a:srgbClr val="C00000"/>
                </a:solidFill>
                <a:latin typeface="Cambria" panose="02040503050406030204" pitchFamily="18" charset="0"/>
                <a:ea typeface="Cambria" panose="02040503050406030204" pitchFamily="18" charset="0"/>
              </a:rPr>
              <a:t>Category:</a:t>
            </a:r>
            <a:r>
              <a:rPr lang="en-US" sz="9600" b="1" dirty="0">
                <a:solidFill>
                  <a:schemeClr val="tx1"/>
                </a:solidFill>
                <a:latin typeface="Cambria" panose="02040503050406030204" pitchFamily="18" charset="0"/>
                <a:ea typeface="Cambria" panose="02040503050406030204" pitchFamily="18" charset="0"/>
              </a:rPr>
              <a:t> Software(</a:t>
            </a:r>
            <a:r>
              <a:rPr lang="en-IN" sz="9600" b="1" dirty="0">
                <a:solidFill>
                  <a:schemeClr val="tx1"/>
                </a:solidFill>
                <a:latin typeface="Cambria" panose="02040503050406030204" pitchFamily="18" charset="0"/>
                <a:ea typeface="Cambria" panose="02040503050406030204" pitchFamily="18" charset="0"/>
              </a:rPr>
              <a:t>Web Application)</a:t>
            </a:r>
            <a:endParaRPr lang="en-US" sz="9600" dirty="0">
              <a:latin typeface="Cambria" panose="02040503050406030204" pitchFamily="18" charset="0"/>
              <a:ea typeface="Cambria" panose="02040503050406030204" pitchFamily="18" charset="0"/>
            </a:endParaRPr>
          </a:p>
          <a:p>
            <a:pPr marL="342900" lvl="0" indent="-190500" algn="just">
              <a:lnSpc>
                <a:spcPct val="150000"/>
              </a:lnSpc>
              <a:spcBef>
                <a:spcPts val="0"/>
              </a:spcBef>
              <a:buNone/>
            </a:pPr>
            <a:r>
              <a:rPr lang="en-US" sz="9600" b="1" dirty="0">
                <a:solidFill>
                  <a:srgbClr val="C00000"/>
                </a:solidFill>
                <a:latin typeface="Cambria" panose="02040503050406030204" pitchFamily="18" charset="0"/>
                <a:ea typeface="Cambria" panose="02040503050406030204" pitchFamily="18" charset="0"/>
              </a:rPr>
              <a:t>Problem Description:</a:t>
            </a:r>
          </a:p>
          <a:p>
            <a:pPr marL="342900" indent="-190500" algn="just">
              <a:lnSpc>
                <a:spcPct val="150000"/>
              </a:lnSpc>
              <a:spcBef>
                <a:spcPts val="0"/>
              </a:spcBef>
              <a:buNone/>
            </a:pPr>
            <a:r>
              <a:rPr lang="en-US" sz="9600" dirty="0"/>
              <a:t>  </a:t>
            </a:r>
            <a:r>
              <a:rPr lang="en-US" sz="9600" b="1" dirty="0">
                <a:latin typeface="Cambria" panose="02040503050406030204" pitchFamily="18" charset="0"/>
                <a:ea typeface="Cambria" panose="02040503050406030204" pitchFamily="18" charset="0"/>
              </a:rPr>
              <a:t>Many children with cognitive disabilities have difficulty with attention, memory, executive function, and problem-solving. These challenges greatly affect their development, learning, and daily life. Traditional in-person therapy can be hard to access, schedule, and afford. There is a pressing need for a flexible, home-based solution that allows for effective and ongoing cognitive retraining.</a:t>
            </a:r>
            <a:endParaRPr lang="en-US" sz="9600" b="1" dirty="0">
              <a:latin typeface="Cambria" panose="02040503050406030204" pitchFamily="18" charset="0"/>
              <a:ea typeface="Cambria" panose="02040503050406030204" pitchFamily="18" charset="0"/>
              <a:cs typeface="Cambria"/>
              <a:sym typeface="Cambria"/>
            </a:endParaRPr>
          </a:p>
          <a:p>
            <a:pPr marL="342900" lvl="0" indent="-190500" algn="just">
              <a:lnSpc>
                <a:spcPct val="150000"/>
              </a:lnSpc>
              <a:spcBef>
                <a:spcPts val="0"/>
              </a:spcBef>
              <a:buNone/>
            </a:pPr>
            <a:endParaRPr lang="en-US" sz="2800" b="1" dirty="0">
              <a:solidFill>
                <a:srgbClr val="C00000"/>
              </a:solidFill>
              <a:latin typeface="Cambria" panose="02040503050406030204" pitchFamily="18" charset="0"/>
              <a:ea typeface="Cambria" panose="02040503050406030204" pitchFamily="18" charset="0"/>
            </a:endParaRPr>
          </a:p>
          <a:p>
            <a:pPr marL="342900" lvl="0" indent="-190500" algn="just">
              <a:lnSpc>
                <a:spcPct val="150000"/>
              </a:lnSpc>
              <a:spcBef>
                <a:spcPts val="0"/>
              </a:spcBef>
              <a:buNone/>
            </a:pPr>
            <a:endParaRPr lang="en-US"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166684" y="762138"/>
            <a:ext cx="10668000" cy="6095861"/>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Introduction</a:t>
            </a:r>
          </a:p>
          <a:p>
            <a:pPr marL="49530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Problem Statement</a:t>
            </a:r>
          </a:p>
          <a:p>
            <a:pPr marL="49530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Objectives</a:t>
            </a:r>
          </a:p>
          <a:p>
            <a:pPr marL="49530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Background and Related work for title Selection</a:t>
            </a:r>
          </a:p>
          <a:p>
            <a:pPr marL="495300" lvl="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Analysis of Problem Statement</a:t>
            </a:r>
          </a:p>
          <a:p>
            <a:pPr marL="495300" lvl="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Software Requirements</a:t>
            </a:r>
          </a:p>
          <a:p>
            <a:pPr marL="495300" lvl="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Innovation or Novel Contributions</a:t>
            </a:r>
          </a:p>
          <a:p>
            <a:pPr marL="495300" indent="-342900" algn="just">
              <a:lnSpc>
                <a:spcPct val="15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Git-hub Link</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b="1"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F4EF137-17E2-9466-99B8-3F509961C0CD}"/>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42AC1837-4772-7CC5-1B91-147B8D3AE93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sz="3200" dirty="0">
                <a:latin typeface="Cambria" panose="02040503050406030204" pitchFamily="18" charset="0"/>
                <a:ea typeface="Cambria" panose="02040503050406030204" pitchFamily="18" charset="0"/>
              </a:rPr>
              <a:t>Introduction</a:t>
            </a:r>
          </a:p>
        </p:txBody>
      </p:sp>
      <p:sp>
        <p:nvSpPr>
          <p:cNvPr id="115" name="Google Shape;115;p17">
            <a:extLst>
              <a:ext uri="{FF2B5EF4-FFF2-40B4-BE49-F238E27FC236}">
                <a16:creationId xmlns:a16="http://schemas.microsoft.com/office/drawing/2014/main" id="{1219EBBA-E4EB-C657-AB9A-5BD1CFD512ED}"/>
              </a:ext>
            </a:extLst>
          </p:cNvPr>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fontScale="92500" lnSpcReduction="20000"/>
          </a:bodyPr>
          <a:lstStyle/>
          <a:p>
            <a:pPr>
              <a:buFont typeface="Wingdings" panose="05000000000000000000" pitchFamily="2" charset="2"/>
              <a:buChar char="§"/>
            </a:pPr>
            <a:r>
              <a:rPr lang="en-US" sz="2200" b="1" dirty="0">
                <a:latin typeface="Cambria" panose="02040503050406030204" pitchFamily="18" charset="0"/>
                <a:ea typeface="Cambria" panose="02040503050406030204" pitchFamily="18" charset="0"/>
              </a:rPr>
              <a:t>Children with cognitive disabilities often face challenges in attention, memory, and learning that require continuous retraining. </a:t>
            </a:r>
          </a:p>
          <a:p>
            <a:pPr>
              <a:buFont typeface="Wingdings" panose="05000000000000000000" pitchFamily="2" charset="2"/>
              <a:buChar char="§"/>
            </a:pPr>
            <a:r>
              <a:rPr lang="en-US" sz="2200" b="1" dirty="0">
                <a:latin typeface="Cambria" panose="02040503050406030204" pitchFamily="18" charset="0"/>
                <a:ea typeface="Cambria" panose="02040503050406030204" pitchFamily="18" charset="0"/>
              </a:rPr>
              <a:t>Traditional retraining therapy requires regular clinic visits, which may not be accessible due to distance, cost, or limited availability of specialists. </a:t>
            </a:r>
          </a:p>
          <a:p>
            <a:pPr>
              <a:buFont typeface="Wingdings" panose="05000000000000000000" pitchFamily="2" charset="2"/>
              <a:buChar char="§"/>
            </a:pPr>
            <a:r>
              <a:rPr lang="en-US" sz="2200" b="1" dirty="0">
                <a:latin typeface="Cambria" panose="02040503050406030204" pitchFamily="18" charset="0"/>
                <a:ea typeface="Cambria" panose="02040503050406030204" pitchFamily="18" charset="0"/>
              </a:rPr>
              <a:t>To address this challenge, Home-CogniPlay is developed as a computerized cognitive retraining system that allows children to practice scientifically designed cognitive tasks at home. </a:t>
            </a:r>
          </a:p>
          <a:p>
            <a:pPr>
              <a:buFont typeface="Wingdings" panose="05000000000000000000" pitchFamily="2" charset="2"/>
              <a:buChar char="§"/>
            </a:pPr>
            <a:r>
              <a:rPr lang="en-IN" sz="2200" b="1" dirty="0">
                <a:latin typeface="Cambria" panose="02040503050406030204" pitchFamily="18" charset="0"/>
                <a:ea typeface="Cambria" panose="02040503050406030204" pitchFamily="18" charset="0"/>
              </a:rPr>
              <a:t>The platform includes:</a:t>
            </a:r>
          </a:p>
          <a:p>
            <a:pPr>
              <a:buFont typeface="Wingdings" panose="05000000000000000000" pitchFamily="2" charset="2"/>
              <a:buChar char="§"/>
            </a:pPr>
            <a:r>
              <a:rPr lang="en-IN" sz="2200" b="1" dirty="0">
                <a:latin typeface="Cambria" panose="02040503050406030204" pitchFamily="18" charset="0"/>
                <a:ea typeface="Cambria" panose="02040503050406030204" pitchFamily="18" charset="0"/>
              </a:rPr>
              <a:t>Memory training activities</a:t>
            </a:r>
          </a:p>
          <a:p>
            <a:pPr>
              <a:buFont typeface="Wingdings" panose="05000000000000000000" pitchFamily="2" charset="2"/>
              <a:buChar char="§"/>
            </a:pPr>
            <a:r>
              <a:rPr lang="en-IN" sz="2200" b="1" dirty="0">
                <a:latin typeface="Cambria" panose="02040503050406030204" pitchFamily="18" charset="0"/>
                <a:ea typeface="Cambria" panose="02040503050406030204" pitchFamily="18" charset="0"/>
              </a:rPr>
              <a:t>Attention and focus improvement games</a:t>
            </a:r>
          </a:p>
          <a:p>
            <a:pPr>
              <a:buFont typeface="Wingdings" panose="05000000000000000000" pitchFamily="2" charset="2"/>
              <a:buChar char="§"/>
            </a:pPr>
            <a:r>
              <a:rPr lang="en-IN" sz="2200" b="1" dirty="0">
                <a:latin typeface="Cambria" panose="02040503050406030204" pitchFamily="18" charset="0"/>
                <a:ea typeface="Cambria" panose="02040503050406030204" pitchFamily="18" charset="0"/>
              </a:rPr>
              <a:t>Parent/Student dashboard for progress tracking</a:t>
            </a:r>
          </a:p>
          <a:p>
            <a:pPr>
              <a:buFont typeface="Wingdings" panose="05000000000000000000" pitchFamily="2" charset="2"/>
              <a:buChar char="§"/>
            </a:pPr>
            <a:r>
              <a:rPr lang="en-IN" sz="2200" b="1" dirty="0">
                <a:latin typeface="Cambria" panose="02040503050406030204" pitchFamily="18" charset="0"/>
                <a:ea typeface="Cambria" panose="02040503050406030204" pitchFamily="18" charset="0"/>
              </a:rPr>
              <a:t>Therapist dashboard for monitoring and assessment</a:t>
            </a:r>
          </a:p>
          <a:p>
            <a:pPr>
              <a:buFont typeface="Wingdings" panose="05000000000000000000" pitchFamily="2" charset="2"/>
              <a:buChar char="§"/>
            </a:pPr>
            <a:r>
              <a:rPr lang="en-IN" sz="2200" b="1" dirty="0">
                <a:latin typeface="Cambria" panose="02040503050406030204" pitchFamily="18" charset="0"/>
                <a:ea typeface="Cambria" panose="02040503050406030204" pitchFamily="18" charset="0"/>
              </a:rPr>
              <a:t>Session-wise performance analytics</a:t>
            </a:r>
          </a:p>
          <a:p>
            <a:pPr>
              <a:buFont typeface="Wingdings" panose="05000000000000000000" pitchFamily="2" charset="2"/>
              <a:buChar char="§"/>
            </a:pPr>
            <a:r>
              <a:rPr lang="en-IN" sz="2200" b="1" dirty="0">
                <a:latin typeface="Cambria" panose="02040503050406030204" pitchFamily="18" charset="0"/>
                <a:ea typeface="Cambria" panose="02040503050406030204" pitchFamily="18" charset="0"/>
              </a:rPr>
              <a:t>Feedback submission and progress reinforcement</a:t>
            </a:r>
          </a:p>
          <a:p>
            <a:pPr>
              <a:buFont typeface="Wingdings" panose="05000000000000000000" pitchFamily="2" charset="2"/>
              <a:buChar char="§"/>
            </a:pPr>
            <a:r>
              <a:rPr lang="en-US" sz="2200" b="1" dirty="0">
                <a:latin typeface="Cambria" panose="02040503050406030204" pitchFamily="18" charset="0"/>
                <a:ea typeface="Cambria" panose="02040503050406030204" pitchFamily="18" charset="0"/>
              </a:rPr>
              <a:t>This system provides an affordable, accessible, and child-friendly digital therapy solution.</a:t>
            </a:r>
            <a:endParaRPr lang="en-IN" sz="2200" b="1" dirty="0">
              <a:latin typeface="Cambria" panose="02040503050406030204" pitchFamily="18" charset="0"/>
              <a:ea typeface="Cambria" panose="02040503050406030204" pitchFamily="18" charset="0"/>
            </a:endParaRPr>
          </a:p>
          <a:p>
            <a:pPr marL="76200" indent="0">
              <a:buNone/>
            </a:pPr>
            <a:endParaRPr lang="en-IN" sz="2000"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73078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55331" y="256149"/>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Problem Statement</a:t>
            </a:r>
          </a:p>
        </p:txBody>
      </p:sp>
      <p:sp>
        <p:nvSpPr>
          <p:cNvPr id="115" name="Google Shape;115;p17"/>
          <p:cNvSpPr txBox="1">
            <a:spLocks noGrp="1"/>
          </p:cNvSpPr>
          <p:nvPr>
            <p:ph type="body" idx="1"/>
          </p:nvPr>
        </p:nvSpPr>
        <p:spPr>
          <a:xfrm>
            <a:off x="762000" y="13702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7" name="Rectangle 3">
            <a:extLst>
              <a:ext uri="{FF2B5EF4-FFF2-40B4-BE49-F238E27FC236}">
                <a16:creationId xmlns:a16="http://schemas.microsoft.com/office/drawing/2014/main" id="{443640ED-F242-4A3A-2020-005A36CE7C90}"/>
              </a:ext>
            </a:extLst>
          </p:cNvPr>
          <p:cNvSpPr>
            <a:spLocks noChangeArrowheads="1"/>
          </p:cNvSpPr>
          <p:nvPr/>
        </p:nvSpPr>
        <p:spPr bwMode="auto">
          <a:xfrm>
            <a:off x="762000" y="844777"/>
            <a:ext cx="1135675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solidFill>
                  <a:srgbClr val="C00000"/>
                </a:solidFill>
                <a:latin typeface="Cambria" panose="02040503050406030204" pitchFamily="18" charset="0"/>
                <a:ea typeface="Cambria" panose="02040503050406030204" pitchFamily="18" charset="0"/>
              </a:rPr>
              <a:t>Why the Project is Needed?</a:t>
            </a:r>
          </a:p>
          <a:p>
            <a:r>
              <a:rPr lang="en-US" sz="2000" b="1" dirty="0">
                <a:latin typeface="Cambria" panose="02040503050406030204" pitchFamily="18" charset="0"/>
                <a:ea typeface="Cambria" panose="02040503050406030204" pitchFamily="18" charset="0"/>
              </a:rPr>
              <a:t>Children with cognitive disabilities (such as ADHD, LD, ASD) require continuous cognitive stimulation.</a:t>
            </a:r>
          </a:p>
          <a:p>
            <a:r>
              <a:rPr lang="en-US" sz="2000" b="1" dirty="0">
                <a:solidFill>
                  <a:srgbClr val="C00000"/>
                </a:solidFill>
                <a:latin typeface="Cambria" panose="02040503050406030204" pitchFamily="18" charset="0"/>
                <a:ea typeface="Cambria" panose="02040503050406030204" pitchFamily="18" charset="0"/>
              </a:rPr>
              <a:t>Challenges in the Current System:</a:t>
            </a:r>
          </a:p>
          <a:p>
            <a:pPr marL="342900" indent="-342900">
              <a:buFont typeface="Wingdings" panose="05000000000000000000" pitchFamily="2" charset="2"/>
              <a:buChar char="§"/>
            </a:pPr>
            <a:r>
              <a:rPr lang="en-US" sz="2000" b="1" dirty="0">
                <a:solidFill>
                  <a:schemeClr val="tx1"/>
                </a:solidFill>
                <a:latin typeface="Cambria" panose="02040503050406030204" pitchFamily="18" charset="0"/>
                <a:ea typeface="Cambria" panose="02040503050406030204" pitchFamily="18" charset="0"/>
              </a:rPr>
              <a:t>Limited access to continuous therapy sessions</a:t>
            </a:r>
          </a:p>
          <a:p>
            <a:pPr marL="342900" indent="-342900">
              <a:buFont typeface="Wingdings" panose="05000000000000000000" pitchFamily="2" charset="2"/>
              <a:buChar char="§"/>
            </a:pPr>
            <a:r>
              <a:rPr lang="en-US" sz="2000" b="1" dirty="0">
                <a:solidFill>
                  <a:schemeClr val="tx1"/>
                </a:solidFill>
                <a:latin typeface="Cambria" panose="02040503050406030204" pitchFamily="18" charset="0"/>
                <a:ea typeface="Cambria" panose="02040503050406030204" pitchFamily="18" charset="0"/>
              </a:rPr>
              <a:t>Manual therapy methods lack consistency </a:t>
            </a:r>
          </a:p>
          <a:p>
            <a:pPr marL="342900" indent="-342900">
              <a:buFont typeface="Wingdings" panose="05000000000000000000" pitchFamily="2" charset="2"/>
              <a:buChar char="§"/>
            </a:pPr>
            <a:r>
              <a:rPr lang="en-US" sz="2000" b="1" dirty="0">
                <a:solidFill>
                  <a:schemeClr val="tx1"/>
                </a:solidFill>
                <a:latin typeface="Cambria" panose="02040503050406030204" pitchFamily="18" charset="0"/>
                <a:ea typeface="Cambria" panose="02040503050406030204" pitchFamily="18" charset="0"/>
              </a:rPr>
              <a:t>No real-time performance tracking </a:t>
            </a:r>
          </a:p>
          <a:p>
            <a:pPr marL="342900" indent="-342900">
              <a:buFont typeface="Wingdings" panose="05000000000000000000" pitchFamily="2" charset="2"/>
              <a:buChar char="§"/>
            </a:pPr>
            <a:r>
              <a:rPr lang="en-US" sz="2000" b="1" dirty="0">
                <a:solidFill>
                  <a:schemeClr val="tx1"/>
                </a:solidFill>
                <a:latin typeface="Cambria" panose="02040503050406030204" pitchFamily="18" charset="0"/>
                <a:ea typeface="Cambria" panose="02040503050406030204" pitchFamily="18" charset="0"/>
              </a:rPr>
              <a:t>Difficulty for therapists to monitor home-based training</a:t>
            </a:r>
          </a:p>
          <a:p>
            <a:pPr marL="342900" indent="-342900">
              <a:buFont typeface="Wingdings" panose="05000000000000000000" pitchFamily="2" charset="2"/>
              <a:buChar char="§"/>
            </a:pPr>
            <a:r>
              <a:rPr lang="en-US" sz="2000" b="1" dirty="0">
                <a:solidFill>
                  <a:schemeClr val="tx1"/>
                </a:solidFill>
                <a:latin typeface="Cambria" panose="02040503050406030204" pitchFamily="18" charset="0"/>
                <a:ea typeface="Cambria" panose="02040503050406030204" pitchFamily="18" charset="0"/>
              </a:rPr>
              <a:t>Parents cannot evaluate cognitive improvements </a:t>
            </a:r>
          </a:p>
          <a:p>
            <a:pPr lvl="0" eaLnBrk="0" fontAlgn="base" hangingPunct="0">
              <a:spcBef>
                <a:spcPct val="0"/>
              </a:spcBef>
              <a:spcAft>
                <a:spcPct val="0"/>
              </a:spcAft>
              <a:buClrTx/>
            </a:pPr>
            <a:r>
              <a:rPr lang="en-IN" sz="2000" b="1" dirty="0">
                <a:solidFill>
                  <a:srgbClr val="C00000"/>
                </a:solidFill>
                <a:latin typeface="Cambria" panose="02040503050406030204" pitchFamily="18" charset="0"/>
                <a:ea typeface="Cambria" panose="02040503050406030204" pitchFamily="18" charset="0"/>
              </a:rPr>
              <a:t>Impact if Not Solved:</a:t>
            </a:r>
          </a:p>
          <a:p>
            <a:pPr marL="342900" lvl="0" indent="-342900" eaLnBrk="0" fontAlgn="base" hangingPunct="0">
              <a:spcBef>
                <a:spcPct val="0"/>
              </a:spcBef>
              <a:spcAft>
                <a:spcPct val="0"/>
              </a:spcAft>
              <a:buClrTx/>
              <a:buFont typeface="Wingdings" panose="05000000000000000000" pitchFamily="2" charset="2"/>
              <a:buChar char="§"/>
            </a:pPr>
            <a:r>
              <a:rPr lang="en-IN" sz="2000" b="1" dirty="0">
                <a:solidFill>
                  <a:schemeClr val="tx1"/>
                </a:solidFill>
                <a:latin typeface="Cambria" panose="02040503050406030204" pitchFamily="18" charset="0"/>
                <a:ea typeface="Cambria" panose="02040503050406030204" pitchFamily="18" charset="0"/>
              </a:rPr>
              <a:t>Slow cognitive development</a:t>
            </a:r>
          </a:p>
          <a:p>
            <a:pPr marL="342900" lvl="0" indent="-342900" eaLnBrk="0" fontAlgn="base" hangingPunct="0">
              <a:spcBef>
                <a:spcPct val="0"/>
              </a:spcBef>
              <a:spcAft>
                <a:spcPct val="0"/>
              </a:spcAft>
              <a:buClrTx/>
              <a:buFont typeface="Wingdings" panose="05000000000000000000" pitchFamily="2" charset="2"/>
              <a:buChar char="§"/>
            </a:pPr>
            <a:r>
              <a:rPr lang="en-IN" sz="2000" b="1" dirty="0">
                <a:solidFill>
                  <a:schemeClr val="tx1"/>
                </a:solidFill>
                <a:latin typeface="Cambria" panose="02040503050406030204" pitchFamily="18" charset="0"/>
                <a:ea typeface="Cambria" panose="02040503050406030204" pitchFamily="18" charset="0"/>
              </a:rPr>
              <a:t>Poor academic performance </a:t>
            </a:r>
          </a:p>
          <a:p>
            <a:pPr marL="342900" lvl="0" indent="-342900" eaLnBrk="0" fontAlgn="base" hangingPunct="0">
              <a:spcBef>
                <a:spcPct val="0"/>
              </a:spcBef>
              <a:spcAft>
                <a:spcPct val="0"/>
              </a:spcAft>
              <a:buClrTx/>
              <a:buFont typeface="Wingdings" panose="05000000000000000000" pitchFamily="2" charset="2"/>
              <a:buChar char="§"/>
            </a:pPr>
            <a:r>
              <a:rPr lang="en-IN" sz="2000" b="1" dirty="0">
                <a:solidFill>
                  <a:schemeClr val="tx1"/>
                </a:solidFill>
                <a:latin typeface="Cambria" panose="02040503050406030204" pitchFamily="18" charset="0"/>
                <a:ea typeface="Cambria" panose="02040503050406030204" pitchFamily="18" charset="0"/>
              </a:rPr>
              <a:t>Reduced attention span </a:t>
            </a:r>
          </a:p>
          <a:p>
            <a:pPr marL="342900" lvl="0" indent="-342900" eaLnBrk="0" fontAlgn="base" hangingPunct="0">
              <a:spcBef>
                <a:spcPct val="0"/>
              </a:spcBef>
              <a:spcAft>
                <a:spcPct val="0"/>
              </a:spcAft>
              <a:buClrTx/>
              <a:buFont typeface="Wingdings" panose="05000000000000000000" pitchFamily="2" charset="2"/>
              <a:buChar char="§"/>
            </a:pPr>
            <a:r>
              <a:rPr lang="en-IN" sz="2000" b="1" dirty="0">
                <a:solidFill>
                  <a:schemeClr val="tx1"/>
                </a:solidFill>
                <a:latin typeface="Cambria" panose="02040503050406030204" pitchFamily="18" charset="0"/>
                <a:ea typeface="Cambria" panose="02040503050406030204" pitchFamily="18" charset="0"/>
              </a:rPr>
              <a:t>Behavioural issues</a:t>
            </a:r>
          </a:p>
          <a:p>
            <a:pPr marL="342900" lvl="0" indent="-342900" eaLnBrk="0" fontAlgn="base" hangingPunct="0">
              <a:spcBef>
                <a:spcPct val="0"/>
              </a:spcBef>
              <a:spcAft>
                <a:spcPct val="0"/>
              </a:spcAft>
              <a:buClrTx/>
              <a:buFont typeface="Wingdings" panose="05000000000000000000" pitchFamily="2" charset="2"/>
              <a:buChar char="§"/>
            </a:pPr>
            <a:r>
              <a:rPr lang="en-IN" sz="2000" b="1" dirty="0">
                <a:solidFill>
                  <a:schemeClr val="tx1"/>
                </a:solidFill>
                <a:latin typeface="Cambria" panose="02040503050406030204" pitchFamily="18" charset="0"/>
                <a:ea typeface="Cambria" panose="02040503050406030204" pitchFamily="18" charset="0"/>
              </a:rPr>
              <a:t>Increased therapy cost due to repeated sessions</a:t>
            </a:r>
          </a:p>
          <a:p>
            <a:pPr lvl="0" eaLnBrk="0" fontAlgn="base" hangingPunct="0">
              <a:spcBef>
                <a:spcPct val="0"/>
              </a:spcBef>
              <a:spcAft>
                <a:spcPct val="0"/>
              </a:spcAft>
              <a:buClrTx/>
            </a:pPr>
            <a:r>
              <a:rPr lang="en-US" sz="2000" b="1" dirty="0">
                <a:latin typeface="Cambria" panose="02040503050406030204" pitchFamily="18" charset="0"/>
                <a:ea typeface="Cambria" panose="02040503050406030204" pitchFamily="18" charset="0"/>
              </a:rPr>
              <a:t>This necessitates a child-friendly computerized retraining system that works from home with therapist oversight.</a:t>
            </a:r>
            <a:endParaRPr lang="en-IN" sz="2000" b="1" dirty="0">
              <a:solidFill>
                <a:srgbClr val="C00000"/>
              </a:solidFill>
              <a:latin typeface="Cambria" panose="02040503050406030204" pitchFamily="18" charset="0"/>
              <a:ea typeface="Cambria" panose="02040503050406030204" pitchFamily="18" charset="0"/>
            </a:endParaRPr>
          </a:p>
          <a:p>
            <a:pPr lvl="0" eaLnBrk="0" fontAlgn="base" hangingPunct="0">
              <a:spcBef>
                <a:spcPct val="0"/>
              </a:spcBef>
              <a:spcAft>
                <a:spcPct val="0"/>
              </a:spcAft>
              <a:buClrTx/>
            </a:pPr>
            <a:endParaRPr kumimoji="0" lang="en-US" altLang="en-US" sz="2000" b="1" i="0" u="none" strike="noStrike" cap="none" normalizeH="0" baseline="0" dirty="0">
              <a:ln>
                <a:noFill/>
              </a:ln>
              <a:solidFill>
                <a:srgbClr val="C00000"/>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0B7DE8A-8A85-C82E-ACFD-90316F66C8CF}"/>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69BF36EC-BDFB-1BBE-568D-6CAE4572D9D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a:extLst>
              <a:ext uri="{FF2B5EF4-FFF2-40B4-BE49-F238E27FC236}">
                <a16:creationId xmlns:a16="http://schemas.microsoft.com/office/drawing/2014/main" id="{695F58D8-DFFD-82E5-800C-8C6A74344933}"/>
              </a:ext>
            </a:extLst>
          </p:cNvPr>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7" name="Rectangle 3">
            <a:extLst>
              <a:ext uri="{FF2B5EF4-FFF2-40B4-BE49-F238E27FC236}">
                <a16:creationId xmlns:a16="http://schemas.microsoft.com/office/drawing/2014/main" id="{192D8742-65F7-7225-ABC1-2D92C85B0B9C}"/>
              </a:ext>
            </a:extLst>
          </p:cNvPr>
          <p:cNvSpPr>
            <a:spLocks noChangeArrowheads="1"/>
          </p:cNvSpPr>
          <p:nvPr/>
        </p:nvSpPr>
        <p:spPr bwMode="auto">
          <a:xfrm>
            <a:off x="1147726" y="5313643"/>
            <a:ext cx="109598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A0388B1E-D746-4319-95AC-6FA42ECE4CD6}"/>
              </a:ext>
            </a:extLst>
          </p:cNvPr>
          <p:cNvSpPr>
            <a:spLocks noChangeArrowheads="1"/>
          </p:cNvSpPr>
          <p:nvPr/>
        </p:nvSpPr>
        <p:spPr bwMode="auto">
          <a:xfrm>
            <a:off x="750931" y="952500"/>
            <a:ext cx="1079173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design a web-based cognitive retraining platform for children with </a:t>
            </a:r>
          </a:p>
          <a:p>
            <a:pPr marL="0" marR="0" lvl="0" indent="0" algn="l" defTabSz="914400" rtl="0" eaLnBrk="0" fontAlgn="base" latinLnBrk="0" hangingPunct="0">
              <a:lnSpc>
                <a:spcPct val="100000"/>
              </a:lnSpc>
              <a:spcBef>
                <a:spcPct val="0"/>
              </a:spcBef>
              <a:spcAft>
                <a:spcPct val="0"/>
              </a:spcAft>
              <a:buClrTx/>
              <a:buSzTx/>
              <a:tabLst/>
            </a:pPr>
            <a:r>
              <a:rPr lang="en-US" altLang="en-US" sz="2400" b="1" dirty="0">
                <a:solidFill>
                  <a:schemeClr val="tx1"/>
                </a:solidFill>
                <a:latin typeface="Cambria" panose="02040503050406030204" pitchFamily="18" charset="0"/>
                <a:ea typeface="Cambria" panose="02040503050406030204" pitchFamily="18" charset="0"/>
              </a:rPr>
              <a:t>  </a:t>
            </a: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disabilities.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provide memory and attention training tasks through interactive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games.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home-based training supervised by parents.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provide therapists with centralized dashboards for performance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record and visualize session data, scores, mistakes, and improvements.</a:t>
            </a:r>
          </a:p>
        </p:txBody>
      </p:sp>
      <p:sp>
        <p:nvSpPr>
          <p:cNvPr id="4" name="Rectangle 2">
            <a:extLst>
              <a:ext uri="{FF2B5EF4-FFF2-40B4-BE49-F238E27FC236}">
                <a16:creationId xmlns:a16="http://schemas.microsoft.com/office/drawing/2014/main" id="{0FBD9ADA-ABE9-48DB-9CA4-8B1EECF217FB}"/>
              </a:ext>
            </a:extLst>
          </p:cNvPr>
          <p:cNvSpPr>
            <a:spLocks noChangeArrowheads="1"/>
          </p:cNvSpPr>
          <p:nvPr/>
        </p:nvSpPr>
        <p:spPr bwMode="auto">
          <a:xfrm>
            <a:off x="773533" y="3938686"/>
            <a:ext cx="854913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motivate children using performance rewards.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store feedback for continuous improvement.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ensure simple UI suitable for young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support future expansion into more cognitive domains.</a:t>
            </a:r>
          </a:p>
        </p:txBody>
      </p:sp>
    </p:spTree>
    <p:extLst>
      <p:ext uri="{BB962C8B-B14F-4D97-AF65-F5344CB8AC3E}">
        <p14:creationId xmlns:p14="http://schemas.microsoft.com/office/powerpoint/2010/main" val="3119378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DF98CD6-FF6D-50B0-4C62-38B939682CDB}"/>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6F6990A-35E6-DB16-8963-C49079F47CB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Background &amp; Related Work</a:t>
            </a:r>
          </a:p>
        </p:txBody>
      </p:sp>
      <p:sp>
        <p:nvSpPr>
          <p:cNvPr id="115" name="Google Shape;115;p17">
            <a:extLst>
              <a:ext uri="{FF2B5EF4-FFF2-40B4-BE49-F238E27FC236}">
                <a16:creationId xmlns:a16="http://schemas.microsoft.com/office/drawing/2014/main" id="{EC79E9A5-3125-43A1-3259-7F6168436DC5}"/>
              </a:ext>
            </a:extLst>
          </p:cNvPr>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7" name="Rectangle 3">
            <a:extLst>
              <a:ext uri="{FF2B5EF4-FFF2-40B4-BE49-F238E27FC236}">
                <a16:creationId xmlns:a16="http://schemas.microsoft.com/office/drawing/2014/main" id="{F6D12680-6CA2-1B06-8B7F-918A008D630B}"/>
              </a:ext>
            </a:extLst>
          </p:cNvPr>
          <p:cNvSpPr>
            <a:spLocks noChangeArrowheads="1"/>
          </p:cNvSpPr>
          <p:nvPr/>
        </p:nvSpPr>
        <p:spPr bwMode="auto">
          <a:xfrm>
            <a:off x="1147726" y="5313643"/>
            <a:ext cx="109598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724246D5-237D-7191-0AA3-498FC1E9E253}"/>
              </a:ext>
            </a:extLst>
          </p:cNvPr>
          <p:cNvSpPr>
            <a:spLocks noChangeArrowheads="1"/>
          </p:cNvSpPr>
          <p:nvPr/>
        </p:nvSpPr>
        <p:spPr bwMode="auto">
          <a:xfrm>
            <a:off x="711200" y="928825"/>
            <a:ext cx="1155316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
            </a:pPr>
            <a:r>
              <a:rPr lang="en-US" sz="2000" b="1" dirty="0">
                <a:latin typeface="Cambria" panose="02040503050406030204" pitchFamily="18" charset="0"/>
                <a:ea typeface="Cambria" panose="02040503050406030204" pitchFamily="18" charset="0"/>
              </a:rPr>
              <a:t>Research in cognitive rehabilitation shows that consistent practice improves:</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Working memory</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Attention span</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Processing speed</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Decision-making</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Academic performance</a:t>
            </a:r>
          </a:p>
          <a:p>
            <a:pPr marL="342900" indent="-342900">
              <a:buFont typeface="Wingdings" panose="05000000000000000000" pitchFamily="2" charset="2"/>
              <a:buChar char="§"/>
            </a:pPr>
            <a:r>
              <a:rPr lang="en-US" sz="2000" b="1" dirty="0">
                <a:latin typeface="Cambria" panose="02040503050406030204" pitchFamily="18" charset="0"/>
                <a:ea typeface="Cambria" panose="02040503050406030204" pitchFamily="18" charset="0"/>
              </a:rPr>
              <a:t>Digital cognitive games are widely used in:</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ADHD training</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Learning disability support</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Slow learner intervention programs</a:t>
            </a:r>
          </a:p>
          <a:p>
            <a:pPr marL="342900" indent="-342900">
              <a:buFont typeface="Wingdings" panose="05000000000000000000" pitchFamily="2" charset="2"/>
              <a:buChar char="§"/>
            </a:pPr>
            <a:r>
              <a:rPr lang="en-US" sz="2000" b="1" dirty="0">
                <a:latin typeface="Cambria" panose="02040503050406030204" pitchFamily="18" charset="0"/>
                <a:ea typeface="Cambria" panose="02040503050406030204" pitchFamily="18" charset="0"/>
              </a:rPr>
              <a:t>Existing tools (Lumosity, CogniFit, BrainHQ) are paid, complex, and not designed for Indian home-training for children.</a:t>
            </a:r>
          </a:p>
          <a:p>
            <a:pPr marL="342900" indent="-342900">
              <a:buFont typeface="Wingdings" panose="05000000000000000000" pitchFamily="2" charset="2"/>
              <a:buChar char="§"/>
            </a:pPr>
            <a:r>
              <a:rPr lang="en-US" sz="2000" b="1" dirty="0">
                <a:latin typeface="Cambria" panose="02040503050406030204" pitchFamily="18" charset="0"/>
                <a:ea typeface="Cambria" panose="02040503050406030204" pitchFamily="18" charset="0"/>
              </a:rPr>
              <a:t>Most do not include: Therapist dashboards, Parent-side tracking, Home training analytics, Culturally simple UI.</a:t>
            </a:r>
          </a:p>
          <a:p>
            <a:pPr marL="342900" indent="-342900">
              <a:buFont typeface="Wingdings" panose="05000000000000000000" pitchFamily="2" charset="2"/>
              <a:buChar char="§"/>
            </a:pPr>
            <a:r>
              <a:rPr lang="en-US" sz="2000" b="1" dirty="0">
                <a:latin typeface="Cambria" panose="02040503050406030204" pitchFamily="18" charset="0"/>
                <a:ea typeface="Cambria" panose="02040503050406030204" pitchFamily="18" charset="0"/>
              </a:rPr>
              <a:t>This gap motivated the development of Home-CogniPlay, a free, accessible, home-based system.</a:t>
            </a:r>
          </a:p>
          <a:p>
            <a:endParaRPr lang="en-US" sz="2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72190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p:cNvSpPr txBox="1">
            <a:spLocks noGrp="1"/>
          </p:cNvSpPr>
          <p:nvPr>
            <p:ph type="body" idx="1"/>
          </p:nvPr>
        </p:nvSpPr>
        <p:spPr>
          <a:xfrm>
            <a:off x="991219" y="3685478"/>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78E0D19E-7E78-7E38-42AE-D3C11BA663A6}"/>
              </a:ext>
            </a:extLst>
          </p:cNvPr>
          <p:cNvSpPr>
            <a:spLocks noChangeArrowheads="1"/>
          </p:cNvSpPr>
          <p:nvPr/>
        </p:nvSpPr>
        <p:spPr bwMode="auto">
          <a:xfrm>
            <a:off x="709006" y="1023210"/>
            <a:ext cx="11761412"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IN" sz="2000" b="1" dirty="0">
                <a:solidFill>
                  <a:srgbClr val="C00000"/>
                </a:solidFill>
                <a:latin typeface="Cambria" panose="02040503050406030204" pitchFamily="18" charset="0"/>
                <a:ea typeface="Cambria" panose="02040503050406030204" pitchFamily="18" charset="0"/>
              </a:rPr>
              <a:t>Child-Centric Issues</a:t>
            </a:r>
          </a:p>
          <a:p>
            <a:pPr marL="342900" indent="-342900" eaLnBrk="0" fontAlgn="base" hangingPunct="0">
              <a:spcBef>
                <a:spcPct val="0"/>
              </a:spcBef>
              <a:spcAft>
                <a:spcPct val="0"/>
              </a:spcAft>
              <a:buClrTx/>
              <a:buFont typeface="Arial" panose="020B0604020202020204" pitchFamily="34" charset="0"/>
              <a:buChar char="•"/>
            </a:pPr>
            <a:r>
              <a:rPr kumimoji="0" lang="en-IN"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Poor attention span </a:t>
            </a:r>
          </a:p>
          <a:p>
            <a:pPr marL="342900" indent="-342900" eaLnBrk="0" fontAlgn="base" hangingPunct="0">
              <a:spcBef>
                <a:spcPct val="0"/>
              </a:spcBef>
              <a:spcAft>
                <a:spcPct val="0"/>
              </a:spcAft>
              <a:buClrTx/>
              <a:buFont typeface="Arial" panose="020B0604020202020204" pitchFamily="34" charset="0"/>
              <a:buChar char="•"/>
            </a:pPr>
            <a:r>
              <a:rPr lang="en-IN" altLang="en-US" sz="2000" b="1" dirty="0">
                <a:solidFill>
                  <a:schemeClr val="tx1"/>
                </a:solidFill>
                <a:latin typeface="Cambria" panose="02040503050406030204" pitchFamily="18" charset="0"/>
                <a:ea typeface="Cambria" panose="02040503050406030204" pitchFamily="18" charset="0"/>
              </a:rPr>
              <a:t>Difficulty remembering  instructions</a:t>
            </a:r>
          </a:p>
          <a:p>
            <a:pPr marL="342900" indent="-342900" eaLnBrk="0" fontAlgn="base" hangingPunct="0">
              <a:spcBef>
                <a:spcPct val="0"/>
              </a:spcBef>
              <a:spcAft>
                <a:spcPct val="0"/>
              </a:spcAft>
              <a:buClrTx/>
              <a:buFont typeface="Arial" panose="020B0604020202020204" pitchFamily="34" charset="0"/>
              <a:buChar char="•"/>
            </a:pPr>
            <a:r>
              <a:rPr kumimoji="0" lang="en-IN"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Low motivation traditional therapy </a:t>
            </a:r>
          </a:p>
          <a:p>
            <a:r>
              <a:rPr lang="en-US" sz="2000" b="1" dirty="0">
                <a:solidFill>
                  <a:srgbClr val="C00000"/>
                </a:solidFill>
                <a:latin typeface="Cambria" panose="02040503050406030204" pitchFamily="18" charset="0"/>
                <a:ea typeface="Cambria" panose="02040503050406030204" pitchFamily="18" charset="0"/>
              </a:rPr>
              <a:t>Parent-Centric Issues</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No expertise to conduct cognitive exercises</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Cannot measure improvements</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Need simple, guided digital tools</a:t>
            </a:r>
            <a:endParaRPr lang="en-US" sz="2000" b="1" dirty="0">
              <a:solidFill>
                <a:schemeClr val="tx1"/>
              </a:solidFill>
              <a:latin typeface="Cambria" panose="02040503050406030204" pitchFamily="18" charset="0"/>
              <a:ea typeface="Cambria" panose="02040503050406030204" pitchFamily="18" charset="0"/>
            </a:endParaRPr>
          </a:p>
          <a:p>
            <a:r>
              <a:rPr lang="en-US" sz="2000" b="1" dirty="0">
                <a:solidFill>
                  <a:srgbClr val="C00000"/>
                </a:solidFill>
                <a:latin typeface="Cambria" panose="02040503050406030204" pitchFamily="18" charset="0"/>
                <a:ea typeface="Cambria" panose="02040503050406030204" pitchFamily="18" charset="0"/>
              </a:rPr>
              <a:t>Therapist-Centric Issues</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Cannot track home training</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No centralized database</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No real-time progress analysis</a:t>
            </a:r>
          </a:p>
          <a:p>
            <a:r>
              <a:rPr lang="en-US" sz="2000" b="1" dirty="0">
                <a:solidFill>
                  <a:srgbClr val="C00000"/>
                </a:solidFill>
                <a:latin typeface="Cambria" panose="02040503050406030204" pitchFamily="18" charset="0"/>
                <a:ea typeface="Cambria" panose="02040503050406030204" pitchFamily="18" charset="0"/>
              </a:rPr>
              <a:t>System-Centric Issues</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No accessible home training platform</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No automated session monitoring</a:t>
            </a: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No structured cognitive reporting</a:t>
            </a:r>
          </a:p>
          <a:p>
            <a:pPr eaLnBrk="0" fontAlgn="base" hangingPunct="0">
              <a:spcBef>
                <a:spcPct val="0"/>
              </a:spcBef>
              <a:spcAft>
                <a:spcPct val="0"/>
              </a:spcAft>
              <a:buClrTx/>
            </a:pP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265B59B-BF38-059A-CA49-D422B85CA987}"/>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D5DA77D-870A-0030-D26B-6664F0F003D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Requirements</a:t>
            </a:r>
          </a:p>
        </p:txBody>
      </p:sp>
      <p:sp>
        <p:nvSpPr>
          <p:cNvPr id="2" name="Text Placeholder 1">
            <a:extLst>
              <a:ext uri="{FF2B5EF4-FFF2-40B4-BE49-F238E27FC236}">
                <a16:creationId xmlns:a16="http://schemas.microsoft.com/office/drawing/2014/main" id="{C930B524-0CE8-E9AD-4293-17493FF7FBB7}"/>
              </a:ext>
            </a:extLst>
          </p:cNvPr>
          <p:cNvSpPr>
            <a:spLocks noGrp="1" noChangeArrowheads="1"/>
          </p:cNvSpPr>
          <p:nvPr>
            <p:ph type="body" idx="1"/>
          </p:nvPr>
        </p:nvSpPr>
        <p:spPr bwMode="auto">
          <a:xfrm>
            <a:off x="703882" y="945182"/>
            <a:ext cx="11759581" cy="4029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2000" b="1" dirty="0">
                <a:latin typeface="Cambria" panose="02040503050406030204" pitchFamily="18" charset="0"/>
                <a:ea typeface="Cambria" panose="02040503050406030204" pitchFamily="18" charset="0"/>
              </a:rPr>
              <a:t>The following tools and technologies are required for the development and deployment of the system:</a:t>
            </a:r>
          </a:p>
          <a:p>
            <a:pPr>
              <a:buFont typeface="Wingdings" panose="05000000000000000000" pitchFamily="2" charset="2"/>
              <a:buChar char="§"/>
            </a:pPr>
            <a:r>
              <a:rPr lang="en-US" sz="2000" b="1" dirty="0">
                <a:solidFill>
                  <a:srgbClr val="C00000"/>
                </a:solidFill>
                <a:latin typeface="Cambria" panose="02040503050406030204" pitchFamily="18" charset="0"/>
                <a:ea typeface="Cambria" panose="02040503050406030204" pitchFamily="18" charset="0"/>
              </a:rPr>
              <a:t>Frontend Technologies</a:t>
            </a:r>
          </a:p>
          <a:p>
            <a:pPr lvl="1">
              <a:buFont typeface="Arial" panose="020B0604020202020204" pitchFamily="34" charset="0"/>
              <a:buChar char="•"/>
            </a:pPr>
            <a:r>
              <a:rPr lang="en-US" b="1" dirty="0">
                <a:latin typeface="Cambria" panose="02040503050406030204" pitchFamily="18" charset="0"/>
                <a:ea typeface="Cambria" panose="02040503050406030204" pitchFamily="18" charset="0"/>
              </a:rPr>
              <a:t>React(Vite) – Ensures fast development environment and optimized production builds.</a:t>
            </a:r>
          </a:p>
          <a:p>
            <a:pPr lvl="1">
              <a:buFont typeface="Arial" panose="020B0604020202020204" pitchFamily="34" charset="0"/>
              <a:buChar char="•"/>
            </a:pPr>
            <a:r>
              <a:rPr lang="en-US" b="1" dirty="0">
                <a:latin typeface="Cambria" panose="02040503050406030204" pitchFamily="18" charset="0"/>
                <a:ea typeface="Cambria" panose="02040503050406030204" pitchFamily="18" charset="0"/>
              </a:rPr>
              <a:t>CSS – Provides the core structure and styling of the web interface.</a:t>
            </a:r>
          </a:p>
          <a:p>
            <a:pPr lvl="1">
              <a:buFont typeface="Arial" panose="020B0604020202020204" pitchFamily="34" charset="0"/>
              <a:buChar char="•"/>
            </a:pPr>
            <a:r>
              <a:rPr lang="en-US" b="1" dirty="0">
                <a:latin typeface="Cambria" panose="02040503050406030204" pitchFamily="18" charset="0"/>
                <a:ea typeface="Cambria" panose="02040503050406030204" pitchFamily="18" charset="0"/>
              </a:rPr>
              <a:t>JavaScript(ES6+) – Enables interactivity and dynamic client-side behavior.</a:t>
            </a:r>
          </a:p>
          <a:p>
            <a:pPr lvl="1">
              <a:buFont typeface="Arial" panose="020B0604020202020204" pitchFamily="34" charset="0"/>
              <a:buChar char="•"/>
            </a:pPr>
            <a:r>
              <a:rPr lang="en-US" b="1" dirty="0">
                <a:latin typeface="Cambria" panose="02040503050406030204" pitchFamily="18" charset="0"/>
                <a:ea typeface="Cambria" panose="02040503050406030204" pitchFamily="18" charset="0"/>
              </a:rPr>
              <a:t>LocalStorage – Save feedback and auth tokens</a:t>
            </a:r>
          </a:p>
          <a:p>
            <a:pPr>
              <a:buFont typeface="Wingdings" panose="05000000000000000000" pitchFamily="2" charset="2"/>
              <a:buChar char="§"/>
            </a:pPr>
            <a:r>
              <a:rPr lang="en-US" sz="2000" b="1" dirty="0">
                <a:solidFill>
                  <a:srgbClr val="C00000"/>
                </a:solidFill>
                <a:latin typeface="Cambria" panose="02040503050406030204" pitchFamily="18" charset="0"/>
                <a:ea typeface="Cambria" panose="02040503050406030204" pitchFamily="18" charset="0"/>
              </a:rPr>
              <a:t>DataBase and Backend Technologies</a:t>
            </a:r>
          </a:p>
          <a:p>
            <a:pPr lvl="2">
              <a:buFont typeface="Arial" panose="020B0604020202020204" pitchFamily="34" charset="0"/>
              <a:buChar char="•"/>
            </a:pPr>
            <a:r>
              <a:rPr lang="en-IN" sz="2000" b="1" dirty="0">
                <a:latin typeface="Cambria" panose="02040503050406030204" pitchFamily="18" charset="0"/>
                <a:ea typeface="Cambria" panose="02040503050406030204" pitchFamily="18" charset="0"/>
              </a:rPr>
              <a:t>Flask (Python) – API logic + session storage</a:t>
            </a:r>
          </a:p>
          <a:p>
            <a:pPr lvl="2">
              <a:buFont typeface="Arial" panose="020B0604020202020204" pitchFamily="34" charset="0"/>
              <a:buChar char="•"/>
            </a:pPr>
            <a:r>
              <a:rPr lang="en-IN" sz="2000" b="1" dirty="0">
                <a:latin typeface="Cambria" panose="02040503050406030204" pitchFamily="18" charset="0"/>
                <a:ea typeface="Cambria" panose="02040503050406030204" pitchFamily="18" charset="0"/>
              </a:rPr>
              <a:t>SQLite / SQL Database – Store cognitive sessions</a:t>
            </a:r>
          </a:p>
          <a:p>
            <a:pPr lvl="2">
              <a:buFont typeface="Arial" panose="020B0604020202020204" pitchFamily="34" charset="0"/>
              <a:buChar char="•"/>
            </a:pPr>
            <a:r>
              <a:rPr lang="en-IN" sz="2000" b="1" dirty="0">
                <a:latin typeface="Cambria" panose="02040503050406030204" pitchFamily="18" charset="0"/>
                <a:ea typeface="Cambria" panose="02040503050406030204" pitchFamily="18" charset="0"/>
              </a:rPr>
              <a:t>JWT – Secure authentication</a:t>
            </a:r>
          </a:p>
        </p:txBody>
      </p:sp>
    </p:spTree>
    <p:extLst>
      <p:ext uri="{BB962C8B-B14F-4D97-AF65-F5344CB8AC3E}">
        <p14:creationId xmlns:p14="http://schemas.microsoft.com/office/powerpoint/2010/main" val="3535552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968CD27-7ED1-2967-007F-A8675E46573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C293A3DA-9924-B041-A80A-24F30D89D0B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Requirements</a:t>
            </a:r>
          </a:p>
        </p:txBody>
      </p:sp>
      <p:sp>
        <p:nvSpPr>
          <p:cNvPr id="4" name="Rectangle 2">
            <a:extLst>
              <a:ext uri="{FF2B5EF4-FFF2-40B4-BE49-F238E27FC236}">
                <a16:creationId xmlns:a16="http://schemas.microsoft.com/office/drawing/2014/main" id="{ED5F3C31-9170-7B0B-43BF-9EDBB59D65F9}"/>
              </a:ext>
            </a:extLst>
          </p:cNvPr>
          <p:cNvSpPr>
            <a:spLocks noGrp="1" noChangeArrowheads="1"/>
          </p:cNvSpPr>
          <p:nvPr>
            <p:ph type="body" idx="1"/>
          </p:nvPr>
        </p:nvSpPr>
        <p:spPr bwMode="auto">
          <a:xfrm>
            <a:off x="812800" y="1105003"/>
            <a:ext cx="844013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rgbClr val="C00000"/>
                </a:solidFill>
                <a:effectLst/>
                <a:latin typeface="Cambria" panose="02040503050406030204" pitchFamily="18" charset="0"/>
                <a:ea typeface="Cambria" panose="02040503050406030204" pitchFamily="18" charset="0"/>
              </a:rPr>
              <a:t>Version Control &amp; Collaborati</a:t>
            </a:r>
            <a:r>
              <a:rPr lang="en-US" altLang="en-US" sz="2000" b="1" dirty="0">
                <a:solidFill>
                  <a:srgbClr val="C00000"/>
                </a:solidFill>
                <a:latin typeface="Cambria" panose="02040503050406030204" pitchFamily="18" charset="0"/>
                <a:ea typeface="Cambria" panose="02040503050406030204" pitchFamily="18" charset="0"/>
              </a:rPr>
              <a:t>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C00000"/>
                </a:solidFill>
                <a:effectLst/>
                <a:latin typeface="Cambria" panose="02040503050406030204" pitchFamily="18" charset="0"/>
                <a:ea typeface="Cambria" panose="02040503050406030204" pitchFamily="18" charset="0"/>
              </a:rPr>
              <a:t>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GitHub – For source code management and team collaboration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rgbClr val="C00000"/>
                </a:solidFill>
                <a:effectLst/>
                <a:latin typeface="Cambria" panose="02040503050406030204" pitchFamily="18" charset="0"/>
                <a:ea typeface="Cambria" panose="02040503050406030204" pitchFamily="18" charset="0"/>
              </a:rPr>
              <a:t>Deployment Platforms</a:t>
            </a:r>
          </a:p>
          <a:p>
            <a:pPr marL="457200" lvl="1" indent="0" eaLnBrk="0" fontAlgn="base" hangingPunct="0">
              <a:spcBef>
                <a:spcPct val="0"/>
              </a:spcBef>
              <a:spcAft>
                <a:spcPct val="0"/>
              </a:spcAft>
              <a:buClrTx/>
              <a:buSzTx/>
              <a:buNone/>
            </a:pPr>
            <a:r>
              <a:rPr lang="en-US" altLang="en-US" b="1" dirty="0">
                <a:solidFill>
                  <a:schemeClr val="tx1"/>
                </a:solidFill>
                <a:latin typeface="Cambria" panose="02040503050406030204" pitchFamily="18" charset="0"/>
                <a:ea typeface="Cambria" panose="02040503050406030204" pitchFamily="18" charset="0"/>
              </a:rPr>
              <a:t>         </a:t>
            </a:r>
            <a:r>
              <a:rPr lang="en-IN" b="1" dirty="0">
                <a:latin typeface="Cambria" panose="02040503050406030204" pitchFamily="18" charset="0"/>
                <a:ea typeface="Cambria" panose="02040503050406030204" pitchFamily="18" charset="0"/>
              </a:rPr>
              <a:t>Netlify</a:t>
            </a:r>
            <a:r>
              <a:rPr lang="en-US" altLang="en-US" b="1" dirty="0">
                <a:solidFill>
                  <a:schemeClr val="tx1"/>
                </a:solidFill>
                <a:latin typeface="Cambria" panose="02040503050406030204" pitchFamily="18" charset="0"/>
                <a:ea typeface="Cambria" panose="02040503050406030204" pitchFamily="18" charset="0"/>
              </a:rPr>
              <a:t> – Cloud Hosting</a:t>
            </a:r>
            <a:endParaRPr kumimoji="0" lang="en-US" altLang="en-US" b="1" i="0" u="none" strike="noStrike" cap="none" normalizeH="0" baseline="0" dirty="0">
              <a:ln>
                <a:noFill/>
              </a:ln>
              <a:solidFill>
                <a:srgbClr val="C00000"/>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1" i="0" u="none" strike="noStrike" cap="none" normalizeH="0" baseline="0" dirty="0">
              <a:ln>
                <a:noFill/>
              </a:ln>
              <a:solidFill>
                <a:srgbClr val="C00000"/>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98097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FBCD950-5694-BA13-03CE-EE25DD3ADF6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9454FBF-8092-10BA-D7A6-E81303A0A13E}"/>
              </a:ext>
            </a:extLst>
          </p:cNvPr>
          <p:cNvSpPr txBox="1">
            <a:spLocks noGrp="1"/>
          </p:cNvSpPr>
          <p:nvPr>
            <p:ph type="title"/>
          </p:nvPr>
        </p:nvSpPr>
        <p:spPr>
          <a:xfrm>
            <a:off x="762000" y="697425"/>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IN" dirty="0">
                <a:solidFill>
                  <a:schemeClr val="bg2"/>
                </a:solidFill>
              </a:rPr>
              <a:t>Functional Architecture Overview</a:t>
            </a:r>
            <a:br>
              <a:rPr lang="en-IN" dirty="0">
                <a:solidFill>
                  <a:srgbClr val="FF0000"/>
                </a:solidFill>
              </a:rPr>
            </a:br>
            <a:endParaRPr lang="en-US" dirty="0">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A5B176F3-964A-A6D9-5AA9-C15751849966}"/>
              </a:ext>
            </a:extLst>
          </p:cNvPr>
          <p:cNvSpPr>
            <a:spLocks noGrp="1" noChangeArrowheads="1"/>
          </p:cNvSpPr>
          <p:nvPr>
            <p:ph type="body" idx="1"/>
          </p:nvPr>
        </p:nvSpPr>
        <p:spPr bwMode="auto">
          <a:xfrm>
            <a:off x="2619375" y="780839"/>
            <a:ext cx="5113900" cy="5296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76200" indent="0">
              <a:buNone/>
            </a:pPr>
            <a:endParaRPr lang="en-US" sz="1600" b="1" dirty="0">
              <a:solidFill>
                <a:srgbClr val="FF0000"/>
              </a:solidFill>
              <a:latin typeface="Cambria" panose="02040503050406030204" pitchFamily="18" charset="0"/>
              <a:ea typeface="Cambria" panose="02040503050406030204" pitchFamily="18" charset="0"/>
            </a:endParaRP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USER</a:t>
            </a:r>
          </a:p>
          <a:p>
            <a:pPr mar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Frontend (React + Vite)</a:t>
            </a:r>
          </a:p>
          <a:p>
            <a:pPr mar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Backend (Flask API+JWT Token)</a:t>
            </a:r>
          </a:p>
          <a:p>
            <a:pPr mar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SQLite Database (Data Storage)</a:t>
            </a:r>
          </a:p>
          <a:p>
            <a:pPr mar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Role Based Access Control (Parent/Child/Therapist)</a:t>
            </a:r>
          </a:p>
          <a:p>
            <a:pPr mar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Admin Dashboard Approval System</a:t>
            </a:r>
          </a:p>
          <a:p>
            <a:pPr mar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     ↓</a:t>
            </a:r>
          </a:p>
          <a:p>
            <a:pPr marL="0" lvl="0" indent="0" algn="ctr" eaLnBrk="0" fontAlgn="base" hangingPunct="0">
              <a:spcBef>
                <a:spcPct val="0"/>
              </a:spcBef>
              <a:spcAft>
                <a:spcPct val="0"/>
              </a:spcAft>
              <a:buClrTx/>
              <a:buSzTx/>
              <a:buNone/>
            </a:pPr>
            <a:r>
              <a:rPr lang="en-US" altLang="en-US" sz="1600" b="1" dirty="0">
                <a:solidFill>
                  <a:schemeClr val="tx1"/>
                </a:solidFill>
                <a:latin typeface="Cambria" panose="02040503050406030204" pitchFamily="18" charset="0"/>
                <a:ea typeface="Cambria" panose="02040503050406030204" pitchFamily="18" charset="0"/>
              </a:rPr>
              <a:t>Approved data made visible to users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88202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1E69302-0924-B96A-0CB8-737AECCDB7AC}"/>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659FCD9-AD06-354A-A89F-380C93BE480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or Novel Contributions</a:t>
            </a:r>
          </a:p>
        </p:txBody>
      </p:sp>
      <p:sp>
        <p:nvSpPr>
          <p:cNvPr id="8" name="Rectangle 6">
            <a:extLst>
              <a:ext uri="{FF2B5EF4-FFF2-40B4-BE49-F238E27FC236}">
                <a16:creationId xmlns:a16="http://schemas.microsoft.com/office/drawing/2014/main" id="{70284EA7-B097-D481-508A-FB6ABF93B78D}"/>
              </a:ext>
            </a:extLst>
          </p:cNvPr>
          <p:cNvSpPr>
            <a:spLocks noGrp="1" noChangeArrowheads="1"/>
          </p:cNvSpPr>
          <p:nvPr>
            <p:ph type="body" idx="1"/>
          </p:nvPr>
        </p:nvSpPr>
        <p:spPr bwMode="auto">
          <a:xfrm>
            <a:off x="431007" y="934220"/>
            <a:ext cx="11631612" cy="5542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
            </a:pPr>
            <a:r>
              <a:rPr lang="en-US" sz="2000" b="1" dirty="0">
                <a:latin typeface="Cambria" panose="02040503050406030204" pitchFamily="18" charset="0"/>
                <a:ea typeface="Cambria" panose="02040503050406030204" pitchFamily="18" charset="0"/>
              </a:rPr>
              <a:t>Customizable, gamified training modules tailored for various disabilities with offline and online support to ensure accessibility and sustained child engagement.</a:t>
            </a:r>
          </a:p>
          <a:p>
            <a:pPr>
              <a:buFont typeface="Wingdings" panose="05000000000000000000" pitchFamily="2" charset="2"/>
              <a:buChar char="§"/>
            </a:pPr>
            <a:r>
              <a:rPr lang="en-US" sz="2000" b="1" dirty="0">
                <a:latin typeface="Cambria" panose="02040503050406030204" pitchFamily="18" charset="0"/>
                <a:ea typeface="Cambria" panose="02040503050406030204" pitchFamily="18" charset="0"/>
              </a:rPr>
              <a:t>AI-driven adaptive difficulty and detailed progress dashboards empower personalized learning and enable caregivers and therapists to monitor and optimize therapy effectively.</a:t>
            </a:r>
          </a:p>
          <a:p>
            <a:pPr marL="76200" indent="0">
              <a:buNone/>
            </a:pPr>
            <a:r>
              <a:rPr lang="en-US" sz="2000" b="1" dirty="0">
                <a:latin typeface="Cambria" panose="02040503050406030204" pitchFamily="18" charset="0"/>
                <a:ea typeface="Cambria" panose="02040503050406030204" pitchFamily="18" charset="0"/>
              </a:rPr>
              <a:t>Home-based Cognitive Retraining</a:t>
            </a:r>
          </a:p>
          <a:p>
            <a:r>
              <a:rPr lang="en-US" sz="2000" b="1" dirty="0">
                <a:latin typeface="Cambria" panose="02040503050406030204" pitchFamily="18" charset="0"/>
                <a:ea typeface="Cambria" panose="02040503050406030204" pitchFamily="18" charset="0"/>
              </a:rPr>
              <a:t>Children practice from home without visiting therapy centers.</a:t>
            </a:r>
          </a:p>
          <a:p>
            <a:pPr marL="76200" indent="0">
              <a:buNone/>
            </a:pPr>
            <a:r>
              <a:rPr lang="en-US" sz="2000" b="1" dirty="0">
                <a:latin typeface="Cambria" panose="02040503050406030204" pitchFamily="18" charset="0"/>
                <a:ea typeface="Cambria" panose="02040503050406030204" pitchFamily="18" charset="0"/>
              </a:rPr>
              <a:t>Therapist Dashboard</a:t>
            </a:r>
          </a:p>
          <a:p>
            <a:r>
              <a:rPr lang="en-US" sz="2000" b="1" dirty="0">
                <a:latin typeface="Cambria" panose="02040503050406030204" pitchFamily="18" charset="0"/>
                <a:ea typeface="Cambria" panose="02040503050406030204" pitchFamily="18" charset="0"/>
              </a:rPr>
              <a:t>View all users’ performance trends in one place.</a:t>
            </a:r>
          </a:p>
          <a:p>
            <a:pPr marL="76200" indent="0">
              <a:buNone/>
            </a:pPr>
            <a:r>
              <a:rPr lang="en-US" sz="2000" b="1" dirty="0">
                <a:latin typeface="Cambria" panose="02040503050406030204" pitchFamily="18" charset="0"/>
                <a:ea typeface="Cambria" panose="02040503050406030204" pitchFamily="18" charset="0"/>
              </a:rPr>
              <a:t>Session Analytics</a:t>
            </a:r>
          </a:p>
          <a:p>
            <a:r>
              <a:rPr lang="en-US" sz="2000" b="1" dirty="0">
                <a:latin typeface="Cambria" panose="02040503050406030204" pitchFamily="18" charset="0"/>
                <a:ea typeface="Cambria" panose="02040503050406030204" pitchFamily="18" charset="0"/>
              </a:rPr>
              <a:t>Includes: Mistake, count, Duration, Score, Average improvement.</a:t>
            </a:r>
          </a:p>
          <a:p>
            <a:pPr>
              <a:buFont typeface="Wingdings" panose="05000000000000000000" pitchFamily="2" charset="2"/>
              <a:buChar char="§"/>
            </a:pPr>
            <a:r>
              <a:rPr lang="en-IN" sz="2000" b="1" dirty="0">
                <a:latin typeface="Cambria" panose="02040503050406030204" pitchFamily="18" charset="0"/>
                <a:ea typeface="Cambria" panose="02040503050406030204" pitchFamily="18" charset="0"/>
              </a:rPr>
              <a:t>Performance Rewards: Positive reinforcement to keep children motivated.</a:t>
            </a:r>
          </a:p>
          <a:p>
            <a:pPr>
              <a:buFont typeface="Wingdings" panose="05000000000000000000" pitchFamily="2" charset="2"/>
              <a:buChar char="§"/>
            </a:pPr>
            <a:r>
              <a:rPr lang="en-IN" sz="2000" b="1" dirty="0">
                <a:latin typeface="Cambria" panose="02040503050406030204" pitchFamily="18" charset="0"/>
                <a:ea typeface="Cambria" panose="02040503050406030204" pitchFamily="18" charset="0"/>
              </a:rPr>
              <a:t>Difficulty Levels: Adaptive cognitive challenge.</a:t>
            </a:r>
          </a:p>
          <a:p>
            <a:pPr>
              <a:buFont typeface="Wingdings" panose="05000000000000000000" pitchFamily="2" charset="2"/>
              <a:buChar char="§"/>
            </a:pPr>
            <a:r>
              <a:rPr lang="en-IN" sz="2000" b="1" dirty="0">
                <a:latin typeface="Cambria" panose="02040503050406030204" pitchFamily="18" charset="0"/>
                <a:ea typeface="Cambria" panose="02040503050406030204" pitchFamily="18" charset="0"/>
              </a:rPr>
              <a:t>Feedback System: User can submit feedback stored locally + optional email.</a:t>
            </a:r>
          </a:p>
          <a:p>
            <a:endParaRPr lang="en-US" sz="2000" b="1" dirty="0">
              <a:latin typeface="Cambria" panose="02040503050406030204" pitchFamily="18" charset="0"/>
              <a:ea typeface="Cambria" panose="02040503050406030204" pitchFamily="18" charset="0"/>
            </a:endParaRPr>
          </a:p>
          <a:p>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53831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38100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845241"/>
            <a:ext cx="10668000" cy="1357517"/>
          </a:xfrm>
          <a:prstGeom prst="rect">
            <a:avLst/>
          </a:prstGeom>
          <a:noFill/>
          <a:ln>
            <a:noFill/>
          </a:ln>
        </p:spPr>
        <p:txBody>
          <a:bodyPr spcFirstLastPara="1" wrap="square" lIns="91425" tIns="45700" rIns="91425" bIns="45700" anchor="t" anchorCtr="0">
            <a:normAutofit fontScale="25000" lnSpcReduction="2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lvl="0" indent="-190500">
              <a:lnSpc>
                <a:spcPct val="200000"/>
              </a:lnSpc>
            </a:pPr>
            <a:r>
              <a:rPr lang="en-IN" sz="8000" b="1" dirty="0">
                <a:solidFill>
                  <a:schemeClr val="accent2">
                    <a:lumMod val="50000"/>
                  </a:schemeClr>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https://github.com/ManojKumar-8055/Computerized-Cognitive-Retraining Program-for-Home-Training-of-Children-with-Disabilities.git</a:t>
            </a:r>
            <a:endParaRPr lang="en-IN" sz="8000" b="1" dirty="0">
              <a:solidFill>
                <a:schemeClr val="accent2">
                  <a:lumMod val="50000"/>
                </a:schemeClr>
              </a:solidFill>
              <a:latin typeface="Cambria"/>
              <a:ea typeface="Cambria"/>
              <a:cs typeface="Cambria"/>
              <a:sym typeface="Cambria"/>
            </a:endParaRPr>
          </a:p>
          <a:p>
            <a:pPr marL="342900" lvl="0" indent="-190500">
              <a:lnSpc>
                <a:spcPct val="200000"/>
              </a:lnSpc>
            </a:pPr>
            <a:endParaRPr lang="en-IN" sz="8000" b="1" dirty="0">
              <a:solidFill>
                <a:schemeClr val="accent2">
                  <a:lumMod val="50000"/>
                </a:schemeClr>
              </a:solidFill>
              <a:latin typeface="Cambria"/>
              <a:ea typeface="Cambria"/>
              <a:cs typeface="Cambria"/>
              <a:sym typeface="Cambria"/>
            </a:endParaRPr>
          </a:p>
          <a:p>
            <a:pPr marL="152400" indent="0">
              <a:lnSpc>
                <a:spcPct val="200000"/>
              </a:lnSpc>
              <a:buNone/>
            </a:pPr>
            <a:r>
              <a:rPr lang="en-US" sz="11200" b="1" dirty="0">
                <a:solidFill>
                  <a:schemeClr val="bg2"/>
                </a:solidFill>
                <a:latin typeface="Cambria" panose="02040503050406030204" pitchFamily="18" charset="0"/>
                <a:ea typeface="Cambria" panose="02040503050406030204" pitchFamily="18" charset="0"/>
              </a:rPr>
              <a:t>Website Link</a:t>
            </a:r>
          </a:p>
          <a:p>
            <a:pPr marL="342900" indent="-190500">
              <a:lnSpc>
                <a:spcPct val="200000"/>
              </a:lnSpc>
            </a:pPr>
            <a:r>
              <a:rPr lang="en-IN" sz="9600" b="1" dirty="0">
                <a:latin typeface="Cambria"/>
                <a:ea typeface="Cambria"/>
                <a:cs typeface="Cambria"/>
                <a:sym typeface="Cambria"/>
              </a:rPr>
              <a:t>https://home-cogniplay.netlify.app/</a:t>
            </a:r>
            <a:endParaRPr lang="en-US" sz="9600" b="1" dirty="0">
              <a:solidFill>
                <a:schemeClr val="accent2">
                  <a:lumMod val="75000"/>
                </a:schemeClr>
              </a:solidFill>
              <a:latin typeface="Cambria" panose="02040503050406030204" pitchFamily="18" charset="0"/>
              <a:ea typeface="Cambria" panose="02040503050406030204" pitchFamily="18" charset="0"/>
            </a:endParaRPr>
          </a:p>
          <a:p>
            <a:pPr marL="342900" lvl="0" indent="-190500">
              <a:lnSpc>
                <a:spcPct val="200000"/>
              </a:lnSpc>
            </a:pPr>
            <a:endParaRPr lang="en-IN" sz="8000" b="1" dirty="0">
              <a:solidFill>
                <a:schemeClr val="accent2">
                  <a:lumMod val="50000"/>
                </a:schemeClr>
              </a:solidFill>
              <a:latin typeface="Cambria"/>
              <a:ea typeface="Cambria"/>
              <a:cs typeface="Cambria"/>
              <a:sym typeface="Cambria"/>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BDF625EF-657F-4294-8A01-A3E859B329B4}"/>
              </a:ext>
            </a:extLst>
          </p:cNvPr>
          <p:cNvPicPr>
            <a:picLocks noChangeAspect="1"/>
          </p:cNvPicPr>
          <p:nvPr/>
        </p:nvPicPr>
        <p:blipFill>
          <a:blip r:embed="rId4"/>
          <a:stretch>
            <a:fillRect/>
          </a:stretch>
        </p:blipFill>
        <p:spPr>
          <a:xfrm>
            <a:off x="7038975" y="2664759"/>
            <a:ext cx="3348000" cy="3348000"/>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DBA772D3-E9F9-36C0-6CA2-66C1E2125A08}"/>
              </a:ext>
            </a:extLst>
          </p:cNvPr>
          <p:cNvSpPr>
            <a:spLocks noGrp="1" noChangeArrowheads="1"/>
          </p:cNvSpPr>
          <p:nvPr>
            <p:ph type="body" idx="1"/>
          </p:nvPr>
        </p:nvSpPr>
        <p:spPr bwMode="auto">
          <a:xfrm>
            <a:off x="349521" y="920621"/>
            <a:ext cx="1149295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ClrTx/>
              <a:buSzTx/>
              <a:buFont typeface="Wingdings" panose="05000000000000000000" pitchFamily="2" charset="2"/>
              <a:buChar char="§"/>
            </a:pPr>
            <a:r>
              <a:rPr lang="en-IN" sz="2000" b="1" dirty="0">
                <a:latin typeface="Cambria" panose="02040503050406030204" pitchFamily="18" charset="0"/>
                <a:ea typeface="Cambria" panose="02040503050406030204" pitchFamily="18" charset="0"/>
              </a:rPr>
              <a:t>NCERT (n.d.) Including children with special needs. New Delhi: National Council of Educational Research and Training. Available at: https://ncert.nic.in/pdf/publication/otherpublications/SpecialNeeds.pdf (Accessed: 1 October 2025).</a:t>
            </a:r>
          </a:p>
          <a:p>
            <a:pPr marL="342900" lvl="0" indent="-342900" eaLnBrk="0" fontAlgn="base" hangingPunct="0">
              <a:spcBef>
                <a:spcPct val="0"/>
              </a:spcBef>
              <a:spcAft>
                <a:spcPct val="0"/>
              </a:spcAft>
              <a:buClrTx/>
              <a:buSzTx/>
              <a:buFont typeface="Wingdings" panose="05000000000000000000" pitchFamily="2" charset="2"/>
              <a:buChar char="§"/>
            </a:pPr>
            <a:r>
              <a:rPr lang="en-IN" sz="2000" b="1" dirty="0">
                <a:latin typeface="Cambria" panose="02040503050406030204" pitchFamily="18" charset="0"/>
                <a:ea typeface="Cambria" panose="02040503050406030204" pitchFamily="18" charset="0"/>
              </a:rPr>
              <a:t>University of Alabama at Birmingham – Traumatic Brain Injury Model System (n.d.) In-home cognitive stimulation guidebook. Birmingham: UAB. Available at: https://uab.edu/medicine/tbi/images/TBIMS/PDF/Inhome_Cognitive_Stimulation_Guidebook_-_Final.pdf (Accessed: 1 October 2025). </a:t>
            </a:r>
          </a:p>
          <a:p>
            <a:pPr marL="342900" lvl="0" indent="-342900" eaLnBrk="0" fontAlgn="base" hangingPunct="0">
              <a:spcBef>
                <a:spcPct val="0"/>
              </a:spcBef>
              <a:spcAft>
                <a:spcPct val="0"/>
              </a:spcAft>
              <a:buClrTx/>
              <a:buSzTx/>
              <a:buFont typeface="Wingdings" panose="05000000000000000000" pitchFamily="2" charset="2"/>
              <a:buChar char="§"/>
            </a:pPr>
            <a:r>
              <a:rPr lang="en-IN" sz="2000" b="1" dirty="0">
                <a:latin typeface="Cambria" panose="02040503050406030204" pitchFamily="18" charset="0"/>
                <a:ea typeface="Cambria" panose="02040503050406030204" pitchFamily="18" charset="0"/>
              </a:rPr>
              <a:t>JSS College of Physiotherapy (n.d.) Training manual for children with special needs. Mysuru: JSS College of Physiotherapy. Available at: https://jssphysiotherapy.edu.in/assets/documents/departments/Training_Manual_for_c hidlren_with_special_needs.pdf (Accessed: 1 October 2025). </a:t>
            </a:r>
          </a:p>
          <a:p>
            <a:pPr marL="342900" lvl="0" indent="-342900" eaLnBrk="0" fontAlgn="base" hangingPunct="0">
              <a:spcBef>
                <a:spcPct val="0"/>
              </a:spcBef>
              <a:spcAft>
                <a:spcPct val="0"/>
              </a:spcAft>
              <a:buClrTx/>
              <a:buSzTx/>
              <a:buFont typeface="Wingdings" panose="05000000000000000000" pitchFamily="2" charset="2"/>
              <a:buChar char="§"/>
            </a:pPr>
            <a:r>
              <a:rPr lang="en-IN" sz="2000" b="1" dirty="0">
                <a:latin typeface="Cambria" panose="02040503050406030204" pitchFamily="18" charset="0"/>
                <a:ea typeface="Cambria" panose="02040503050406030204" pitchFamily="18" charset="0"/>
              </a:rPr>
              <a:t>Kumar, S., Sirisala, S., Babu, G.N., Ramakrishna, K. and Lakshmi, N.V.M. (2024) ‘Computerized Cognitive Retraining Program for Home Training of Children with Disabilities’, Proceedings of the 2nd International Conference on Sustainable Computing and Smart Systems (ICSCSS 2024). IEEE. DOI: 10.1109/ICSCSS60660.2024.10625417.</a:t>
            </a: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79C73C2-E735-ED52-FF78-EDE9F4DB28C9}"/>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3D77A718-FAEE-5F38-0125-F25EE77317A7}"/>
              </a:ext>
            </a:extLst>
          </p:cNvPr>
          <p:cNvSpPr txBox="1">
            <a:spLocks noGrp="1"/>
          </p:cNvSpPr>
          <p:nvPr>
            <p:ph type="title"/>
          </p:nvPr>
        </p:nvSpPr>
        <p:spPr>
          <a:xfrm>
            <a:off x="812800" y="21748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D83934E2-6CCE-0365-A62E-8D0A72192CDC}"/>
              </a:ext>
            </a:extLst>
          </p:cNvPr>
          <p:cNvSpPr>
            <a:spLocks noGrp="1" noChangeArrowheads="1"/>
          </p:cNvSpPr>
          <p:nvPr>
            <p:ph type="body" idx="1"/>
          </p:nvPr>
        </p:nvSpPr>
        <p:spPr bwMode="auto">
          <a:xfrm>
            <a:off x="400321" y="1078927"/>
            <a:ext cx="11492958"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ClrTx/>
              <a:buSzTx/>
              <a:buFont typeface="Wingdings" panose="05000000000000000000" pitchFamily="2" charset="2"/>
              <a:buChar char="§"/>
            </a:pPr>
            <a:r>
              <a:rPr lang="en-IN" sz="2000" b="1" dirty="0">
                <a:latin typeface="Cambria" panose="02040503050406030204" pitchFamily="18" charset="0"/>
                <a:ea typeface="Cambria" panose="02040503050406030204" pitchFamily="18" charset="0"/>
              </a:rPr>
              <a:t>Prakash, P., Mukunth, J., Elangovan, K. and Dhanush Raja, A.K. (2024) ‘Computerized Cognitive Retraining Program for Children with Disabilities’, Proceedings of the 2024 International Conference on Power, Energy, Control and Transmission Systems (ICPECTS 2024). IEEE. DOI: 10.1109/ICPECTS62210.2024.10780401. </a:t>
            </a:r>
          </a:p>
          <a:p>
            <a:pPr marL="342900" lvl="0" indent="-342900" eaLnBrk="0" fontAlgn="base" hangingPunct="0">
              <a:spcBef>
                <a:spcPct val="0"/>
              </a:spcBef>
              <a:spcAft>
                <a:spcPct val="0"/>
              </a:spcAft>
              <a:buClrTx/>
              <a:buSzTx/>
              <a:buFont typeface="Wingdings" panose="05000000000000000000" pitchFamily="2" charset="2"/>
              <a:buChar char="§"/>
            </a:pPr>
            <a:r>
              <a:rPr lang="en-IN" sz="2000" b="1" dirty="0">
                <a:latin typeface="Cambria" panose="02040503050406030204" pitchFamily="18" charset="0"/>
                <a:ea typeface="Cambria" panose="02040503050406030204" pitchFamily="18" charset="0"/>
              </a:rPr>
              <a:t>Nappo, R., Brancaccio, M., Pascotto, A. and Valenti, G. (2022) ‘Computerized training of executive functions in a child with specific learning disorders: A descriptive study’. Available at: https://www.researchgate.net/publication/366043186_Computerized_training_of_exec utive_functions_in_a_child_with_specific_learning_disorders_a_descriptive_study (Accessed: 1 October 2025).  </a:t>
            </a:r>
          </a:p>
          <a:p>
            <a:pPr marL="342900" lvl="0" indent="-342900" eaLnBrk="0" fontAlgn="base" hangingPunct="0">
              <a:spcBef>
                <a:spcPct val="0"/>
              </a:spcBef>
              <a:spcAft>
                <a:spcPct val="0"/>
              </a:spcAft>
              <a:buClrTx/>
              <a:buSzTx/>
              <a:buFont typeface="Wingdings" panose="05000000000000000000" pitchFamily="2" charset="2"/>
              <a:buChar char="§"/>
            </a:pPr>
            <a:r>
              <a:rPr lang="en-IN" sz="2000" b="1" dirty="0">
                <a:latin typeface="Cambria" panose="02040503050406030204" pitchFamily="18" charset="0"/>
                <a:ea typeface="Cambria" panose="02040503050406030204" pitchFamily="18" charset="0"/>
              </a:rPr>
              <a:t>Farghaly, A., El-Sayed, R., El-Kady, A. and Shaker, H. (2022) ‘Computerized program training for second-grade students with dyslexia in Asyut, Egypt’, Egyptian Journal of Neurology, Psychiatry and Neurosurgery, 58(57). DOI: https://doi.org/10.1186/s41983-022-00480-y (Accessed: 1 October 2025).</a:t>
            </a: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06927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
        <p:nvSpPr>
          <p:cNvPr id="3" name="TextBox 2">
            <a:extLst>
              <a:ext uri="{FF2B5EF4-FFF2-40B4-BE49-F238E27FC236}">
                <a16:creationId xmlns:a16="http://schemas.microsoft.com/office/drawing/2014/main" id="{793F7B6E-FEC7-5BF3-0E45-C9E26292669D}"/>
              </a:ext>
            </a:extLst>
          </p:cNvPr>
          <p:cNvSpPr txBox="1"/>
          <p:nvPr/>
        </p:nvSpPr>
        <p:spPr>
          <a:xfrm>
            <a:off x="3048000" y="3277570"/>
            <a:ext cx="6096000" cy="307777"/>
          </a:xfrm>
          <a:prstGeom prst="rect">
            <a:avLst/>
          </a:prstGeom>
          <a:noFill/>
        </p:spPr>
        <p:txBody>
          <a:bodyPr wrap="square">
            <a:spAutoFit/>
          </a:bodyPr>
          <a:lstStyle/>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p:txBody>
      </p:sp>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650</TotalTime>
  <Words>1469</Words>
  <Application>Microsoft Office PowerPoint</Application>
  <PresentationFormat>Widescreen</PresentationFormat>
  <Paragraphs>196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Bookman Old Style</vt:lpstr>
      <vt:lpstr>Cambria</vt:lpstr>
      <vt:lpstr>Norwester</vt:lpstr>
      <vt:lpstr>Verdana</vt:lpstr>
      <vt:lpstr>Wingdings</vt:lpstr>
      <vt:lpstr>Bioinformatics</vt:lpstr>
      <vt:lpstr>Computerized Cognitive Retraining Program for Home Training of Children with Disabilities</vt:lpstr>
      <vt:lpstr>Problem Statement Number: PSCS_19</vt:lpstr>
      <vt:lpstr>Content</vt:lpstr>
      <vt:lpstr>Introduction</vt:lpstr>
      <vt:lpstr>Problem Statement</vt:lpstr>
      <vt:lpstr>Objectives</vt:lpstr>
      <vt:lpstr>Background &amp; Related Work</vt:lpstr>
      <vt:lpstr>Analysis of Problem Statement </vt:lpstr>
      <vt:lpstr>Software Requirements</vt:lpstr>
      <vt:lpstr>Software Requirements</vt:lpstr>
      <vt:lpstr>Functional Architecture Overview </vt:lpstr>
      <vt:lpstr>Innovation or Novel Contributions</vt:lpstr>
      <vt:lpstr>Github Link</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Home CogniPlay</cp:lastModifiedBy>
  <cp:revision>67</cp:revision>
  <dcterms:modified xsi:type="dcterms:W3CDTF">2025-12-03T05:17:22Z</dcterms:modified>
</cp:coreProperties>
</file>